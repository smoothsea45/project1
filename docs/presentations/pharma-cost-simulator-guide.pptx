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현행 웹 버전의 실제 입력 화면입니다. 설명용 가상 예제를 새 브라우저에서 열어 캡처했습니다. 제품명과 비고는 시나리오별로 저장합니다. 배치사이즈는 손실 발생 전 기준 수량이며 수율 기본값은 100%입니다. T는 정·캡슐 등의 단위제형입니다. 직접 입력 모드에서는 우리 제품 약가만 적용되므로 나머지 약가 조건이 회색으로 비활성화됩니다. 입력을 서버에 전송하지 않고 브라우저에서 계산합니다.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입력 화면 하단입니다. 가상 예제는 API A 20mg/T·1,000,000원/kg, API B 10mg/T·2,000,000원/kg, 부형제 100mg/T·100,000원/kg입니다. API 40원/T와 부형제 10원/T입니다. 배치 100,000T, 수율 100%, 포자재비 1,000,000원/배치와 공수비 2,000,000원/배치를 입력해 각각 10원/T와 20원/T로 계산합니다. 모든 1T 비용은 배치 전체 금액을 배치사이즈×수율로 나누어 산출합니다.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결과 화면입니다. API 40원/T, 부형제 10원/T, 포자재비 10원/T, 공수비 20원/T로 제조원가 80원/T입니다. 약가 300원/T 대비 원가율 26.7%입니다. 도넛은 약가 전체 대비 비용과 차액을 표시하고, 오른쪽 세로 누적 막대는 제조원가 내 비용 비중을 표시합니다. 원가가 약가를 초과해도 실제 원가율을 표시하며 약가 0에서는 원가율을 계산 불가로 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시나리오 비교표 상단을 발췌했습니다. 가상 예제의 두 번째 시나리오는 API A와 B의 구매단가를 절반으로 낮추어 제조원가가 80원/T에서 60원/T, 원가율이 26.7%에서 20.0%가 됩니다. 표 아래에는 비용 구성 도넛, 1~8년차 약가·제조원가 막대그래프, 배치당/1T당 비용이 이어집니다. 연차를 누르면 해당 시나리오의 비용 구성 도넛이 바뀝니다. 탭 드래그로 순서를 변경하고 비교표 출력으로 인쇄합니다. JSON 파일로 모든 시나리오와 SF를 저장합니다.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SF 입력표와 실제 이익 분석 그래프입니다. SF는 금액이 아니라 판매수량 T이며 0 이상의 정수로 입력합니다. 예제 8년 SF는 100,000·180,000·250,000·350,000·450,000·550,000·650,000·750,000T입니다. 기본안의 1년차 이익은 100,000×(300-80)=22,000,000원, API 단가 절감안은 100,000×(300-60)=24,000,000원입니다. 연간과 누적 그래프는 같은 연차의 시나리오 막대를 나란히 표시합니다. 누적 그래프는 1년차부터 해당 연차까지의 누계를 매년 표시합니다. 보험약가를 판매단가로 쓰며 현재 제조원가/T를 전체 기간에 적용합니다. 판관비·개발비·세금을 반영한 순이익은 아닙니다. 공통 SF 또는 시나리오별 별도 SF를 입력할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moothsea45.github.io/project1/" TargetMode="Externa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moothsea45.github.io/project1/" TargetMode="External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moothsea45.github.io/project1/" TargetMode="External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moothsea45.github.io/project1/" TargetMode="Externa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moothsea45.github.io/project1/" TargetMode="Externa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"/>
          </a:xfrm>
          <a:prstGeom prst="rect">
            <a:avLst/>
          </a:prstGeom>
          <a:solidFill>
            <a:srgbClr val="08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383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lang="ko-KR">
                <a:solidFill>
                  <a:srgbClr val="087F82"/>
                </a:solidFill>
                <a:latin typeface="맑은 고딕"/>
                <a:ea typeface="맑은 고딕"/>
              </a:rPr>
              <a:t>01  INPUT · BASIC SETTINGS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338328"/>
            <a:ext cx="8778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lang="ko-KR">
                <a:solidFill>
                  <a:srgbClr val="637F8D"/>
                </a:solidFill>
                <a:latin typeface="맑은 고딕"/>
                <a:ea typeface="맑은 고딕"/>
              </a:rPr>
              <a:t>2026.10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94944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2900" b="1" lang="ko-KR">
                <a:solidFill>
                  <a:srgbClr val="153C4D"/>
                </a:solidFill>
                <a:latin typeface="맑은 고딕"/>
                <a:ea typeface="맑은 고딕"/>
              </a:rPr>
              <a:t>제품·생산조건과 약가를 입력합니다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27101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610" b="0" lang="ko-KR">
                <a:solidFill>
                  <a:srgbClr val="637F8D"/>
                </a:solidFill>
                <a:latin typeface="맑은 고딕"/>
                <a:ea typeface="맑은 고딕"/>
              </a:rPr>
              <a:t>처방의 제조원가율을 계산하고, 조건을 바꾼 시나리오와 예상이익을 비교하는 도구입니다.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65392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lang="ko-KR">
                <a:solidFill>
                  <a:srgbClr val="087F82"/>
                </a:solidFill>
                <a:latin typeface="맑은 고딕"/>
                <a:ea typeface="맑은 고딕"/>
                <a:hlinkClick r:id="rId2"/>
              </a:rPr>
              <a:t>https://smoothsea45.github.io/project1/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lang="ko-KR">
                <a:solidFill>
                  <a:srgbClr val="637F8D"/>
                </a:solidFill>
                <a:latin typeface="맑은 고딕"/>
                <a:ea typeface="맑은 고딕"/>
              </a:rPr>
              <a:t>01 / 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55648"/>
            <a:ext cx="1901952" cy="292608"/>
          </a:xfrm>
          <a:prstGeom prst="roundRect">
            <a:avLst>
              <a:gd name="adj" fmla="val 12000"/>
            </a:avLst>
          </a:prstGeom>
          <a:solidFill>
            <a:srgbClr val="E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96795"/>
            <a:ext cx="1719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030" b="1" lang="ko-KR">
                <a:solidFill>
                  <a:srgbClr val="087F82"/>
                </a:solidFill>
                <a:latin typeface="맑은 고딕"/>
                <a:ea typeface="맑은 고딕"/>
              </a:rPr>
              <a:t>실제 입력 화면 · 상단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75520" y="1755648"/>
            <a:ext cx="1746504" cy="292608"/>
          </a:xfrm>
          <a:prstGeom prst="roundRect">
            <a:avLst>
              <a:gd name="adj" fmla="val 12000"/>
            </a:avLst>
          </a:prstGeom>
          <a:solidFill>
            <a:srgbClr val="E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0" y="1796795"/>
            <a:ext cx="15636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030" b="1" lang="ko-KR">
                <a:solidFill>
                  <a:srgbClr val="087F82"/>
                </a:solidFill>
                <a:latin typeface="맑은 고딕"/>
                <a:ea typeface="맑은 고딕"/>
              </a:rPr>
              <a:t>설명용 가상 예제</a:t>
            </a:r>
          </a:p>
        </p:txBody>
      </p:sp>
      <p:pic>
        <p:nvPicPr>
          <p:cNvPr id="13" name="Picture 12" descr="input-cont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139696"/>
            <a:ext cx="11055096" cy="873709"/>
          </a:xfrm>
          <a:prstGeom prst="rect">
            <a:avLst/>
          </a:prstGeom>
        </p:spPr>
      </p:pic>
      <p:pic>
        <p:nvPicPr>
          <p:cNvPr id="14" name="Picture 13" descr="input-pric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127248"/>
            <a:ext cx="7534656" cy="3196152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8366760" y="3108960"/>
            <a:ext cx="320040" cy="320040"/>
          </a:xfrm>
          <a:prstGeom prst="ellipse">
            <a:avLst/>
          </a:prstGeom>
          <a:solidFill>
            <a:srgbClr val="E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7F82"/>
                </a:solidFill>
                <a:latin typeface="맑은 고딕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96528" y="3095244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520" b="1" lang="ko-KR">
                <a:solidFill>
                  <a:srgbClr val="153C4D"/>
                </a:solidFill>
                <a:latin typeface="맑은 고딕"/>
                <a:ea typeface="맑은 고딕"/>
              </a:rPr>
              <a:t>제품·비고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6528" y="3465576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각 시나리오의 제품명과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설명을 따로 입력합니다.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8366760" y="4133087"/>
            <a:ext cx="320040" cy="320040"/>
          </a:xfrm>
          <a:prstGeom prst="ellipse">
            <a:avLst/>
          </a:prstGeom>
          <a:solidFill>
            <a:srgbClr val="E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7F82"/>
                </a:solidFill>
                <a:latin typeface="맑은 고딕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96528" y="4119372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520" b="1" lang="ko-KR">
                <a:solidFill>
                  <a:srgbClr val="153C4D"/>
                </a:solidFill>
                <a:latin typeface="맑은 고딕"/>
                <a:ea typeface="맑은 고딕"/>
              </a:rPr>
              <a:t>생산조건 입력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4489703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배치사이즈·수율·포장형태,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달러 환율을 입력합니다.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8366760" y="5157216"/>
            <a:ext cx="320040" cy="320040"/>
          </a:xfrm>
          <a:prstGeom prst="ellipse">
            <a:avLst/>
          </a:prstGeom>
          <a:solidFill>
            <a:srgbClr val="E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7F82"/>
                </a:solidFill>
                <a:latin typeface="맑은 고딕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5143500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520" b="1" lang="ko-KR">
                <a:solidFill>
                  <a:srgbClr val="153C4D"/>
                </a:solidFill>
                <a:latin typeface="맑은 고딕"/>
                <a:ea typeface="맑은 고딕"/>
              </a:rPr>
              <a:t>약가 입력 방식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5513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직접 입력은 우리 제품 약가,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예상 계산은 조건을 선택합니다.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373368"/>
            <a:ext cx="109728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890" b="0" lang="ko-KR">
                <a:solidFill>
                  <a:srgbClr val="637F8D"/>
                </a:solidFill>
                <a:latin typeface="맑은 고딕"/>
                <a:ea typeface="맑은 고딕"/>
              </a:rPr>
              <a:t>직접 입력 모드에서는 회사·품목·시장 조건이 비활성화됩니다. 예상 약가의 일반·수급안정 가산은 간편 가정입니다.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"/>
          </a:xfrm>
          <a:prstGeom prst="rect">
            <a:avLst/>
          </a:prstGeom>
          <a:solidFill>
            <a:srgbClr val="08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383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lang="ko-KR">
                <a:solidFill>
                  <a:srgbClr val="087F82"/>
                </a:solidFill>
                <a:latin typeface="맑은 고딕"/>
                <a:ea typeface="맑은 고딕"/>
              </a:rPr>
              <a:t>02  INPUT · COST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338328"/>
            <a:ext cx="8778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lang="ko-KR">
                <a:solidFill>
                  <a:srgbClr val="637F8D"/>
                </a:solidFill>
                <a:latin typeface="맑은 고딕"/>
                <a:ea typeface="맑은 고딕"/>
              </a:rPr>
              <a:t>2026.10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94944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2900" b="1" lang="ko-KR">
                <a:solidFill>
                  <a:srgbClr val="153C4D"/>
                </a:solidFill>
                <a:latin typeface="맑은 고딕"/>
                <a:ea typeface="맑은 고딕"/>
              </a:rPr>
              <a:t>원료와 배치 전체 고정비를 입력합니다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27101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610" b="0" lang="ko-KR">
                <a:solidFill>
                  <a:srgbClr val="637F8D"/>
                </a:solidFill>
                <a:latin typeface="맑은 고딕"/>
                <a:ea typeface="맑은 고딕"/>
              </a:rPr>
              <a:t>원료표는 행 단위로 편집하고, 입력값을 바꾸면 배치당·1T당 비용이 바로 갱신됩니다.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65392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lang="ko-KR">
                <a:solidFill>
                  <a:srgbClr val="087F82"/>
                </a:solidFill>
                <a:latin typeface="맑은 고딕"/>
                <a:ea typeface="맑은 고딕"/>
                <a:hlinkClick r:id="rId2"/>
              </a:rPr>
              <a:t>https://smoothsea45.github.io/project1/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lang="ko-KR">
                <a:solidFill>
                  <a:srgbClr val="637F8D"/>
                </a:solidFill>
                <a:latin typeface="맑은 고딕"/>
                <a:ea typeface="맑은 고딕"/>
              </a:rPr>
              <a:t>02 / 05</a:t>
            </a:r>
          </a:p>
        </p:txBody>
      </p:sp>
      <p:pic>
        <p:nvPicPr>
          <p:cNvPr id="9" name="Picture 8" descr="input-materi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10512"/>
            <a:ext cx="11055096" cy="345723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94360" y="5477256"/>
            <a:ext cx="320040" cy="320040"/>
          </a:xfrm>
          <a:prstGeom prst="ellipse">
            <a:avLst/>
          </a:prstGeom>
          <a:solidFill>
            <a:srgbClr val="E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7F82"/>
                </a:solidFill>
                <a:latin typeface="맑은 고딕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5463540"/>
            <a:ext cx="30449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520" b="1" lang="ko-KR">
                <a:solidFill>
                  <a:srgbClr val="153C4D"/>
                </a:solidFill>
                <a:latin typeface="맑은 고딕"/>
                <a:ea typeface="맑은 고딕"/>
              </a:rPr>
              <a:t>실제 투입량 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5833872"/>
            <a:ext cx="30449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API·부형제를 추가하고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1T당 투입량을 mg로 입력</a:t>
            </a:r>
          </a:p>
        </p:txBody>
      </p:sp>
      <p:sp>
        <p:nvSpPr>
          <p:cNvPr id="13" name="Oval 12"/>
          <p:cNvSpPr/>
          <p:nvPr/>
        </p:nvSpPr>
        <p:spPr>
          <a:xfrm>
            <a:off x="4361688" y="5477256"/>
            <a:ext cx="320040" cy="320040"/>
          </a:xfrm>
          <a:prstGeom prst="ellipse">
            <a:avLst/>
          </a:prstGeom>
          <a:solidFill>
            <a:srgbClr val="E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7F82"/>
                </a:solidFill>
                <a:latin typeface="맑은 고딕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91455" y="5463540"/>
            <a:ext cx="30449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520" b="1" lang="ko-KR">
                <a:solidFill>
                  <a:srgbClr val="153C4D"/>
                </a:solidFill>
                <a:latin typeface="맑은 고딕"/>
                <a:ea typeface="맑은 고딕"/>
              </a:rPr>
              <a:t>구매단가·단위 선택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5" y="5833872"/>
            <a:ext cx="30449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원/g·원/kg·달러/g·달러/kg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달러 단가는 입력 환율로 환산</a:t>
            </a:r>
          </a:p>
        </p:txBody>
      </p:sp>
      <p:sp>
        <p:nvSpPr>
          <p:cNvPr id="16" name="Oval 15"/>
          <p:cNvSpPr/>
          <p:nvPr/>
        </p:nvSpPr>
        <p:spPr>
          <a:xfrm>
            <a:off x="8129016" y="5477256"/>
            <a:ext cx="320040" cy="320040"/>
          </a:xfrm>
          <a:prstGeom prst="ellipse">
            <a:avLst/>
          </a:prstGeom>
          <a:solidFill>
            <a:srgbClr val="E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7F82"/>
                </a:solidFill>
                <a:latin typeface="맑은 고딕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58784" y="5463540"/>
            <a:ext cx="30449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520" b="1" lang="ko-KR">
                <a:solidFill>
                  <a:srgbClr val="153C4D"/>
                </a:solidFill>
                <a:latin typeface="맑은 고딕"/>
                <a:ea typeface="맑은 고딕"/>
              </a:rPr>
              <a:t>고정비는 배치 전체 금액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5833872"/>
            <a:ext cx="30449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포자재비·공수비를 입력하면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수율을 반영한 1T당 비용 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373368"/>
            <a:ext cx="109728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890" b="0" lang="ko-KR">
                <a:solidFill>
                  <a:srgbClr val="637F8D"/>
                </a:solidFill>
                <a:latin typeface="맑은 고딕"/>
                <a:ea typeface="맑은 고딕"/>
              </a:rPr>
              <a:t>수율은 배치 전체 비용을 1T당 비용으로 환산할 때 반영합니다. 표시 함량이 아닌 실제 원료 투입량으로 계산합니다.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"/>
          </a:xfrm>
          <a:prstGeom prst="rect">
            <a:avLst/>
          </a:prstGeom>
          <a:solidFill>
            <a:srgbClr val="08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383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lang="ko-KR">
                <a:solidFill>
                  <a:srgbClr val="087F82"/>
                </a:solidFill>
                <a:latin typeface="맑은 고딕"/>
                <a:ea typeface="맑은 고딕"/>
              </a:rPr>
              <a:t>03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338328"/>
            <a:ext cx="8778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lang="ko-KR">
                <a:solidFill>
                  <a:srgbClr val="637F8D"/>
                </a:solidFill>
                <a:latin typeface="맑은 고딕"/>
                <a:ea typeface="맑은 고딕"/>
              </a:rPr>
              <a:t>2026.10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94944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2900" b="1" lang="ko-KR">
                <a:solidFill>
                  <a:srgbClr val="153C4D"/>
                </a:solidFill>
                <a:latin typeface="맑은 고딕"/>
                <a:ea typeface="맑은 고딕"/>
              </a:rPr>
              <a:t>결과 탭에서 제조원가율을 확인합니다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27101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610" b="0" lang="ko-KR">
                <a:solidFill>
                  <a:srgbClr val="637F8D"/>
                </a:solidFill>
                <a:latin typeface="맑은 고딕"/>
                <a:ea typeface="맑은 고딕"/>
              </a:rPr>
              <a:t>왼쪽은 비용 구성, 오른쪽은 약가 → 제조원가 → 원가율입니다. 핵심 지표인 원가율을 강조합니다.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65392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lang="ko-KR">
                <a:solidFill>
                  <a:srgbClr val="087F82"/>
                </a:solidFill>
                <a:latin typeface="맑은 고딕"/>
                <a:ea typeface="맑은 고딕"/>
                <a:hlinkClick r:id="rId2"/>
              </a:rPr>
              <a:t>https://smoothsea45.github.io/project1/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lang="ko-KR">
                <a:solidFill>
                  <a:srgbClr val="637F8D"/>
                </a:solidFill>
                <a:latin typeface="맑은 고딕"/>
                <a:ea typeface="맑은 고딕"/>
              </a:rPr>
              <a:t>03 / 05</a:t>
            </a:r>
          </a:p>
        </p:txBody>
      </p:sp>
      <p:pic>
        <p:nvPicPr>
          <p:cNvPr id="9" name="Picture 8" descr="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10512"/>
            <a:ext cx="11055096" cy="43014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6208776"/>
            <a:ext cx="11055096" cy="265176"/>
          </a:xfrm>
          <a:prstGeom prst="roundRect">
            <a:avLst>
              <a:gd name="adj" fmla="val 12000"/>
            </a:avLst>
          </a:prstGeom>
          <a:solidFill>
            <a:srgbClr val="E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6222492"/>
            <a:ext cx="10744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80" b="1" lang="ko-KR">
                <a:solidFill>
                  <a:srgbClr val="087F82"/>
                </a:solidFill>
                <a:latin typeface="맑은 고딕"/>
                <a:ea typeface="맑은 고딕"/>
              </a:rPr>
              <a:t>제조원가율 = 제조원가 ÷ 약가 × 100     |     예제: 80원/T ÷ 300원/T × 100 = 26.7%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"/>
          </a:xfrm>
          <a:prstGeom prst="rect">
            <a:avLst/>
          </a:prstGeom>
          <a:solidFill>
            <a:srgbClr val="08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383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lang="ko-KR">
                <a:solidFill>
                  <a:srgbClr val="087F82"/>
                </a:solidFill>
                <a:latin typeface="맑은 고딕"/>
                <a:ea typeface="맑은 고딕"/>
              </a:rPr>
              <a:t>04  SCENARIO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338328"/>
            <a:ext cx="8778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lang="ko-KR">
                <a:solidFill>
                  <a:srgbClr val="637F8D"/>
                </a:solidFill>
                <a:latin typeface="맑은 고딕"/>
                <a:ea typeface="맑은 고딕"/>
              </a:rPr>
              <a:t>2026.10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94944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2900" b="1" lang="ko-KR">
                <a:solidFill>
                  <a:srgbClr val="153C4D"/>
                </a:solidFill>
                <a:latin typeface="맑은 고딕"/>
                <a:ea typeface="맑은 고딕"/>
              </a:rPr>
              <a:t>조건을 복제해 나란히 비교합니다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27101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610" b="0" lang="ko-KR">
                <a:solidFill>
                  <a:srgbClr val="637F8D"/>
                </a:solidFill>
                <a:latin typeface="맑은 고딕"/>
                <a:ea typeface="맑은 고딕"/>
              </a:rPr>
              <a:t>공급처·원료단가·수율·약가 등의 조건을 바꾸어 최대 4개 시나리오를 비교할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65392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lang="ko-KR">
                <a:solidFill>
                  <a:srgbClr val="087F82"/>
                </a:solidFill>
                <a:latin typeface="맑은 고딕"/>
                <a:ea typeface="맑은 고딕"/>
                <a:hlinkClick r:id="rId2"/>
              </a:rPr>
              <a:t>https://smoothsea45.github.io/project1/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lang="ko-KR">
                <a:solidFill>
                  <a:srgbClr val="637F8D"/>
                </a:solidFill>
                <a:latin typeface="맑은 고딕"/>
                <a:ea typeface="맑은 고딕"/>
              </a:rPr>
              <a:t>04 / 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2002536" cy="292608"/>
          </a:xfrm>
          <a:prstGeom prst="roundRect">
            <a:avLst>
              <a:gd name="adj" fmla="val 12000"/>
            </a:avLst>
          </a:prstGeom>
          <a:solidFill>
            <a:srgbClr val="E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4228"/>
            <a:ext cx="18196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030" b="1" lang="ko-KR">
                <a:solidFill>
                  <a:srgbClr val="087F82"/>
                </a:solidFill>
                <a:latin typeface="맑은 고딕"/>
                <a:ea typeface="맑은 고딕"/>
              </a:rPr>
              <a:t>실제 비교표 · 상단 발췌</a:t>
            </a:r>
          </a:p>
        </p:txBody>
      </p:sp>
      <p:pic>
        <p:nvPicPr>
          <p:cNvPr id="11" name="Picture 10" descr="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194560"/>
            <a:ext cx="7287768" cy="3824786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8257031" y="2240280"/>
            <a:ext cx="320040" cy="320040"/>
          </a:xfrm>
          <a:prstGeom prst="ellipse">
            <a:avLst/>
          </a:prstGeom>
          <a:solidFill>
            <a:srgbClr val="E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7F82"/>
                </a:solidFill>
                <a:latin typeface="맑은 고딕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226564"/>
            <a:ext cx="2907791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520" b="1" lang="ko-KR">
                <a:solidFill>
                  <a:srgbClr val="153C4D"/>
                </a:solidFill>
                <a:latin typeface="맑은 고딕"/>
                <a:ea typeface="맑은 고딕"/>
              </a:rPr>
              <a:t>현재 입력 복제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596896"/>
            <a:ext cx="290779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복제한 조건을 수정해도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원본 시나리오는 유지됩니다.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8257031" y="3328416"/>
            <a:ext cx="320040" cy="320040"/>
          </a:xfrm>
          <a:prstGeom prst="ellipse">
            <a:avLst/>
          </a:prstGeom>
          <a:solidFill>
            <a:srgbClr val="E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7F82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314700"/>
            <a:ext cx="2907791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520" b="1" lang="ko-KR">
                <a:solidFill>
                  <a:srgbClr val="153C4D"/>
                </a:solidFill>
                <a:latin typeface="맑은 고딕"/>
                <a:ea typeface="맑은 고딕"/>
              </a:rPr>
              <a:t>차이와 연차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3685032"/>
            <a:ext cx="290779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조건·원가율·비용 구성을 비교.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연차를 누르면 도넛도 변경됩니다.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8257031" y="4416552"/>
            <a:ext cx="320040" cy="320040"/>
          </a:xfrm>
          <a:prstGeom prst="ellipse">
            <a:avLst/>
          </a:prstGeom>
          <a:solidFill>
            <a:srgbClr val="E7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7F82"/>
                </a:solidFill>
                <a:latin typeface="맑은 고딕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402836"/>
            <a:ext cx="2907791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520" b="1" lang="ko-KR">
                <a:solidFill>
                  <a:srgbClr val="153C4D"/>
                </a:solidFill>
                <a:latin typeface="맑은 고딕"/>
                <a:ea typeface="맑은 고딕"/>
              </a:rPr>
              <a:t>정렬·출력·보관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773168"/>
            <a:ext cx="290779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시나리오 탭을 드래그해 정렬.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lang="ko-KR">
                <a:solidFill>
                  <a:srgbClr val="637F8D"/>
                </a:solidFill>
                <a:latin typeface="맑은 고딕"/>
                <a:ea typeface="맑은 고딕"/>
              </a:rPr>
              <a:t>비교표 출력으로 인쇄합니다.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6135624"/>
            <a:ext cx="11055096" cy="347472"/>
          </a:xfrm>
          <a:prstGeom prst="roundRect">
            <a:avLst>
              <a:gd name="adj" fmla="val 12000"/>
            </a:avLst>
          </a:prstGeom>
          <a:solidFill>
            <a:srgbClr val="153C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6190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lang="ko-KR">
                <a:solidFill>
                  <a:srgbClr val="FFFFFF"/>
                </a:solidFill>
                <a:latin typeface="맑은 고딕"/>
                <a:ea typeface="맑은 고딕"/>
              </a:rPr>
              <a:t>보관은 ‘프로젝트 저장’(JSON), 다시 사용할 때는 ‘파일 열기’를 선택합니다.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"/>
          </a:xfrm>
          <a:prstGeom prst="rect">
            <a:avLst/>
          </a:prstGeom>
          <a:solidFill>
            <a:srgbClr val="08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383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lang="ko-KR">
                <a:solidFill>
                  <a:srgbClr val="087F82"/>
                </a:solidFill>
                <a:latin typeface="맑은 고딕"/>
                <a:ea typeface="맑은 고딕"/>
              </a:rPr>
              <a:t>05  OPTIONAL · SF &amp;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338328"/>
            <a:ext cx="8778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lang="ko-KR">
                <a:solidFill>
                  <a:srgbClr val="637F8D"/>
                </a:solidFill>
                <a:latin typeface="맑은 고딕"/>
                <a:ea typeface="맑은 고딕"/>
              </a:rPr>
              <a:t>2026.10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94944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2900" b="1" lang="ko-KR">
                <a:solidFill>
                  <a:srgbClr val="153C4D"/>
                </a:solidFill>
                <a:latin typeface="맑은 고딕"/>
                <a:ea typeface="맑은 고딕"/>
              </a:rPr>
              <a:t>판매수량을 입력해 연간·누적 이익을 비교합니다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27101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610" b="0" lang="ko-KR">
                <a:solidFill>
                  <a:srgbClr val="637F8D"/>
                </a:solidFill>
                <a:latin typeface="맑은 고딕"/>
                <a:ea typeface="맑은 고딕"/>
              </a:rPr>
              <a:t>예상이익 = 연차별 판매수량(T) × (해당 연차 약가 − 현재 제조원가/T)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65392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lang="ko-KR">
                <a:solidFill>
                  <a:srgbClr val="087F82"/>
                </a:solidFill>
                <a:latin typeface="맑은 고딕"/>
                <a:ea typeface="맑은 고딕"/>
                <a:hlinkClick r:id="rId2"/>
              </a:rPr>
              <a:t>https://smoothsea45.github.io/project1/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lang="ko-KR">
                <a:solidFill>
                  <a:srgbClr val="637F8D"/>
                </a:solidFill>
                <a:latin typeface="맑은 고딕"/>
                <a:ea typeface="맑은 고딕"/>
              </a:rPr>
              <a:t>05 /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10512"/>
            <a:ext cx="81838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220" b="1" lang="ko-KR">
                <a:solidFill>
                  <a:srgbClr val="087F82"/>
                </a:solidFill>
                <a:latin typeface="맑은 고딕"/>
                <a:ea typeface="맑은 고딕"/>
              </a:rPr>
              <a:t>① ‘SF·이익 분석 사용’ 체크 → ② 분석기간(1~10년) 선택 → ③ 연차별 판매수량 입력</a:t>
            </a:r>
          </a:p>
        </p:txBody>
      </p:sp>
      <p:pic>
        <p:nvPicPr>
          <p:cNvPr id="10" name="Picture 9" descr="sf-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139696"/>
            <a:ext cx="11055096" cy="8155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8368" y="3063240"/>
            <a:ext cx="91440" cy="91440"/>
          </a:xfrm>
          <a:prstGeom prst="rect">
            <a:avLst/>
          </a:prstGeom>
          <a:solidFill>
            <a:srgbClr val="08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17520"/>
            <a:ext cx="2039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 lang="ko-KR">
                <a:solidFill>
                  <a:srgbClr val="637F8D"/>
                </a:solidFill>
                <a:latin typeface="맑은 고딕"/>
                <a:ea typeface="맑은 고딕"/>
              </a:rPr>
              <a:t>기본안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29968" y="3063240"/>
            <a:ext cx="91440" cy="91440"/>
          </a:xfrm>
          <a:prstGeom prst="rect">
            <a:avLst/>
          </a:prstGeom>
          <a:solidFill>
            <a:srgbClr val="8B5C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94560" y="3017520"/>
            <a:ext cx="28163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 lang="ko-KR">
                <a:solidFill>
                  <a:srgbClr val="637F8D"/>
                </a:solidFill>
                <a:latin typeface="맑은 고딕"/>
                <a:ea typeface="맑은 고딕"/>
              </a:rPr>
              <a:t>API 단가 절감안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4968" y="3017520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1" lang="ko-KR">
                <a:solidFill>
                  <a:srgbClr val="087F82"/>
                </a:solidFill>
                <a:latin typeface="맑은 고딕"/>
                <a:ea typeface="맑은 고딕"/>
              </a:rPr>
              <a:t>④ ‘이익 분석’ 탭에서 시나리오별 비교</a:t>
            </a:r>
          </a:p>
        </p:txBody>
      </p:sp>
      <p:pic>
        <p:nvPicPr>
          <p:cNvPr id="16" name="Picture 15" descr="pro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7" y="3264408"/>
            <a:ext cx="10277856" cy="306467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4360" y="6373368"/>
            <a:ext cx="109728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890" b="0" lang="ko-KR">
                <a:solidFill>
                  <a:srgbClr val="637F8D"/>
                </a:solidFill>
                <a:latin typeface="맑은 고딕"/>
                <a:ea typeface="맑은 고딕"/>
              </a:rPr>
              <a:t>제조원가/T는 분석기간 동안 일정하게 적용합니다. 예상이익은 판관비·개발비·세금을 제외한 제조원가 기준입니다.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의약품 제조원가율 시뮬레이터 | 소개 및 사용 방법</dc:title>
  <dc:subject>현행 웹 버전의 실제 입력·결과 화면을 포함한 사용 안내, 5장</dc:subject>
  <dc:creator/>
  <cp:keywords>의약품, 제조원가율, 시나리오, SF, 사용 안내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