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현재 웹 버전(2026-10-23) 소개입니다. 결과 화면은 프로그램에 포함된 가상 예제를 실제 브라우저에서 캡처했습니다. API 40원/T, 부형제 10원/T, 포자재비 10원/T, 공수비 20원/T, 약가 300원/T, 수율 100%로 제조원가 80원/T와 원가율 26.7%가 표시됩니다. 원가는 실제 투입량으로 계산하며 약가 간편 모델은 공식 등재 확정 결과가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시나리오마다 제품명과 비고를 따로 입력하며 복제본을 수정해도 원본은 유지됩니다. 실제 원료 투입량은 mg/T, 원료 단가는 원/g·원/kg·달러/g·달러/kg을 지원합니다. SF는 금액이 아니라 연차별 판매수량(T)이며 0 이상의 정수입니다. 직접 입력 약가는 전 기간에 동일하게, 예상 약가 계산은 연차별 약가로 분석합니다. 제조원가/T는 현재 조건을 전 기간에 적용합니다. 가상 예제의 1년차 SF 100,000T에서 기본안 이익은 22,000,000원, API 단가 절감안은 24,000,000원입니다. 자료는 입력값을 서버로 보내지 않는 현재 웹 버전 기준입니다.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moothsea45.github.io/project1/" TargetMode="Externa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moothsea45.github.io/project1/" TargetMode="Externa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lang="ko-KR">
                <a:solidFill>
                  <a:srgbClr val="087F82"/>
                </a:solidFill>
                <a:latin typeface="맑은 고딕"/>
                <a:ea typeface="맑은 고딕"/>
              </a:rPr>
              <a:t>SIMULATOR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338328"/>
            <a:ext cx="87782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lang="ko-KR">
                <a:solidFill>
                  <a:srgbClr val="637F8D"/>
                </a:solidFill>
                <a:latin typeface="맑은 고딕"/>
                <a:ea typeface="맑은 고딕"/>
              </a:rPr>
              <a:t>2026.10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1106424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2900" b="1" lang="ko-KR">
                <a:solidFill>
                  <a:srgbClr val="153C4D"/>
                </a:solidFill>
                <a:latin typeface="맑은 고딕"/>
                <a:ea typeface="맑은 고딕"/>
              </a:rPr>
              <a:t>의약품 제조원가율 시뮬레이터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71016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610" b="0" lang="ko-KR">
                <a:solidFill>
                  <a:srgbClr val="637F8D"/>
                </a:solidFill>
                <a:latin typeface="맑은 고딕"/>
                <a:ea typeface="맑은 고딕"/>
              </a:rPr>
              <a:t>처방부터 원가율·이익까지, 조건을 바꾸며 바로 비교합니다.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65392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919" b="0" lang="ko-KR">
                <a:solidFill>
                  <a:srgbClr val="087F82"/>
                </a:solidFill>
                <a:latin typeface="맑은 고딕"/>
                <a:ea typeface="맑은 고딕"/>
                <a:hlinkClick r:id="rId2"/>
              </a:rPr>
              <a:t>https://smoothsea45.github.io/project1/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65392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919" b="0" lang="ko-KR">
                <a:solidFill>
                  <a:srgbClr val="637F8D"/>
                </a:solidFill>
                <a:latin typeface="맑은 고딕"/>
                <a:ea typeface="맑은 고딕"/>
              </a:rPr>
              <a:t>01 / 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10512"/>
            <a:ext cx="1673352" cy="292608"/>
          </a:xfrm>
          <a:prstGeom prst="roundRect">
            <a:avLst>
              <a:gd name="adj" fmla="val 12000"/>
            </a:avLst>
          </a:prstGeom>
          <a:solidFill>
            <a:srgbClr val="E7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51660"/>
            <a:ext cx="14904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030" b="1" lang="ko-KR">
                <a:solidFill>
                  <a:srgbClr val="087F82"/>
                </a:solidFill>
                <a:latin typeface="맑은 고딕"/>
                <a:ea typeface="맑은 고딕"/>
              </a:rPr>
              <a:t>설치 없이 웹 실행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50008" y="1810512"/>
            <a:ext cx="1517904" cy="292608"/>
          </a:xfrm>
          <a:prstGeom prst="roundRect">
            <a:avLst>
              <a:gd name="adj" fmla="val 12000"/>
            </a:avLst>
          </a:prstGeom>
          <a:solidFill>
            <a:srgbClr val="E7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41448" y="1851660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030" b="1" lang="ko-KR">
                <a:solidFill>
                  <a:srgbClr val="087F82"/>
                </a:solidFill>
                <a:latin typeface="맑은 고딕"/>
                <a:ea typeface="맑은 고딕"/>
              </a:rPr>
              <a:t>최대 4개 시나리오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1810512"/>
            <a:ext cx="1627632" cy="292608"/>
          </a:xfrm>
          <a:prstGeom prst="roundRect">
            <a:avLst>
              <a:gd name="adj" fmla="val 12000"/>
            </a:avLst>
          </a:prstGeom>
          <a:solidFill>
            <a:srgbClr val="E7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69079" y="1851660"/>
            <a:ext cx="14447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030" b="1" lang="ko-KR">
                <a:solidFill>
                  <a:srgbClr val="087F82"/>
                </a:solidFill>
                <a:latin typeface="맑은 고딕"/>
                <a:ea typeface="맑은 고딕"/>
              </a:rPr>
              <a:t>JSON 저장·복원</a:t>
            </a:r>
          </a:p>
        </p:txBody>
      </p:sp>
      <p:sp>
        <p:nvSpPr>
          <p:cNvPr id="15" name="Oval 14"/>
          <p:cNvSpPr/>
          <p:nvPr/>
        </p:nvSpPr>
        <p:spPr>
          <a:xfrm>
            <a:off x="585216" y="2514600"/>
            <a:ext cx="320040" cy="320040"/>
          </a:xfrm>
          <a:prstGeom prst="ellipse">
            <a:avLst/>
          </a:prstGeom>
          <a:solidFill>
            <a:srgbClr val="E7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87F82"/>
                </a:solidFill>
                <a:latin typeface="맑은 고딕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505456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 lang="ko-KR">
                <a:solidFill>
                  <a:srgbClr val="153C4D"/>
                </a:solidFill>
                <a:latin typeface="맑은 고딕"/>
                <a:ea typeface="맑은 고딕"/>
              </a:rPr>
              <a:t>원가 계산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852928"/>
            <a:ext cx="353872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410" b="0" lang="ko-KR">
                <a:solidFill>
                  <a:srgbClr val="637F8D"/>
                </a:solidFill>
                <a:latin typeface="맑은 고딕"/>
                <a:ea typeface="맑은 고딕"/>
              </a:rPr>
              <a:t>API·부형제·포자재비·공수비로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410" b="0" lang="ko-KR">
                <a:solidFill>
                  <a:srgbClr val="637F8D"/>
                </a:solidFill>
                <a:latin typeface="맑은 고딕"/>
                <a:ea typeface="맑은 고딕"/>
              </a:rPr>
              <a:t>1T당 제조원가와 원가율 계산</a:t>
            </a:r>
          </a:p>
        </p:txBody>
      </p:sp>
      <p:sp>
        <p:nvSpPr>
          <p:cNvPr id="18" name="Oval 17"/>
          <p:cNvSpPr/>
          <p:nvPr/>
        </p:nvSpPr>
        <p:spPr>
          <a:xfrm>
            <a:off x="585216" y="3429000"/>
            <a:ext cx="320040" cy="320040"/>
          </a:xfrm>
          <a:prstGeom prst="ellipse">
            <a:avLst/>
          </a:prstGeom>
          <a:solidFill>
            <a:srgbClr val="E7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87F82"/>
                </a:solidFill>
                <a:latin typeface="맑은 고딕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419856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 lang="ko-KR">
                <a:solidFill>
                  <a:srgbClr val="153C4D"/>
                </a:solidFill>
                <a:latin typeface="맑은 고딕"/>
                <a:ea typeface="맑은 고딕"/>
              </a:rPr>
              <a:t>시나리오 비교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767328"/>
            <a:ext cx="353872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410" b="0" lang="ko-KR">
                <a:solidFill>
                  <a:srgbClr val="637F8D"/>
                </a:solidFill>
                <a:latin typeface="맑은 고딕"/>
                <a:ea typeface="맑은 고딕"/>
              </a:rPr>
              <a:t>현재 입력을 복제하고 조건을 바꿔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410" b="0" lang="ko-KR">
                <a:solidFill>
                  <a:srgbClr val="637F8D"/>
                </a:solidFill>
                <a:latin typeface="맑은 고딕"/>
                <a:ea typeface="맑은 고딕"/>
              </a:rPr>
              <a:t>공급처·단가·수율별 차이 비교</a:t>
            </a:r>
          </a:p>
        </p:txBody>
      </p:sp>
      <p:sp>
        <p:nvSpPr>
          <p:cNvPr id="21" name="Oval 20"/>
          <p:cNvSpPr/>
          <p:nvPr/>
        </p:nvSpPr>
        <p:spPr>
          <a:xfrm>
            <a:off x="585216" y="4343400"/>
            <a:ext cx="320040" cy="320040"/>
          </a:xfrm>
          <a:prstGeom prst="ellipse">
            <a:avLst/>
          </a:prstGeom>
          <a:solidFill>
            <a:srgbClr val="E7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87F82"/>
                </a:solidFill>
                <a:latin typeface="맑은 고딕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334256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 lang="ko-KR">
                <a:solidFill>
                  <a:srgbClr val="153C4D"/>
                </a:solidFill>
                <a:latin typeface="맑은 고딕"/>
                <a:ea typeface="맑은 고딕"/>
              </a:rPr>
              <a:t>SF 이익 분석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681728"/>
            <a:ext cx="353872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410" b="0" lang="ko-KR">
                <a:solidFill>
                  <a:srgbClr val="637F8D"/>
                </a:solidFill>
                <a:latin typeface="맑은 고딕"/>
                <a:ea typeface="맑은 고딕"/>
              </a:rPr>
              <a:t>연차별 판매수량(T)을 입력해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410" b="0" lang="ko-KR">
                <a:solidFill>
                  <a:srgbClr val="637F8D"/>
                </a:solidFill>
                <a:latin typeface="맑은 고딕"/>
                <a:ea typeface="맑은 고딕"/>
              </a:rPr>
              <a:t>연간·누적 예상이익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2231136"/>
            <a:ext cx="67208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110" b="0" lang="ko-KR">
                <a:solidFill>
                  <a:srgbClr val="637F8D"/>
                </a:solidFill>
                <a:latin typeface="맑은 고딕"/>
                <a:ea typeface="맑은 고딕"/>
              </a:rPr>
              <a:t>실제 결과 화면  |  설명용 가상 예제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91456" y="2523744"/>
            <a:ext cx="6830568" cy="2706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9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569464"/>
            <a:ext cx="6720840" cy="261501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864608" y="5303520"/>
            <a:ext cx="67116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280" b="1" lang="ko-KR">
                <a:solidFill>
                  <a:srgbClr val="087F82"/>
                </a:solidFill>
                <a:latin typeface="맑은 고딕"/>
                <a:ea typeface="맑은 고딕"/>
              </a:rPr>
              <a:t>약가 300원/T → 제조원가 80원/T → 원가율 26.7%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687568"/>
            <a:ext cx="11055096" cy="621792"/>
          </a:xfrm>
          <a:prstGeom prst="roundRect">
            <a:avLst>
              <a:gd name="adj" fmla="val 12000"/>
            </a:avLst>
          </a:prstGeom>
          <a:solidFill>
            <a:srgbClr val="153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" y="5797296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 lang="ko-KR">
                <a:solidFill>
                  <a:srgbClr val="FFFFFF"/>
                </a:solidFill>
                <a:latin typeface="맑은 고딕"/>
                <a:ea typeface="맑은 고딕"/>
              </a:rPr>
              <a:t>제조원가율(%) = 1T당 제조원가 ÷ 약가 × 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373368"/>
            <a:ext cx="1097280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910" b="0" lang="ko-KR">
                <a:solidFill>
                  <a:srgbClr val="637F8D"/>
                </a:solidFill>
                <a:latin typeface="맑은 고딕"/>
                <a:ea typeface="맑은 고딕"/>
              </a:rPr>
              <a:t>T는 정·캡슐 등 단위제형입니다. 수율은 모든 1T 비용에 반영하며, 예상 약가의 일반·수급안정 가산은 간편 가정입니다.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lang="ko-KR">
                <a:solidFill>
                  <a:srgbClr val="087F82"/>
                </a:solidFill>
                <a:latin typeface="맑은 고딕"/>
                <a:ea typeface="맑은 고딕"/>
              </a:rPr>
              <a:t>HOW TO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338328"/>
            <a:ext cx="87782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lang="ko-KR">
                <a:solidFill>
                  <a:srgbClr val="637F8D"/>
                </a:solidFill>
                <a:latin typeface="맑은 고딕"/>
                <a:ea typeface="맑은 고딕"/>
              </a:rPr>
              <a:t>2026.10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1106424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2900" b="1" lang="ko-KR">
                <a:solidFill>
                  <a:srgbClr val="153C4D"/>
                </a:solidFill>
                <a:latin typeface="맑은 고딕"/>
                <a:ea typeface="맑은 고딕"/>
              </a:rPr>
              <a:t>입력부터 비교까지, 4단계로 사용합니다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71016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610" b="0" lang="ko-KR">
                <a:solidFill>
                  <a:srgbClr val="637F8D"/>
                </a:solidFill>
                <a:latin typeface="맑은 고딕"/>
                <a:ea typeface="맑은 고딕"/>
              </a:rPr>
              <a:t>조건을 바꾸면 원가율과 연차별 예상이익이 즉시 갱신됩니다.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65392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919" b="0" lang="ko-KR">
                <a:solidFill>
                  <a:srgbClr val="087F82"/>
                </a:solidFill>
                <a:latin typeface="맑은 고딕"/>
                <a:ea typeface="맑은 고딕"/>
                <a:hlinkClick r:id="rId2"/>
              </a:rPr>
              <a:t>https://smoothsea45.github.io/project1/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65392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919" b="0" lang="ko-KR">
                <a:solidFill>
                  <a:srgbClr val="637F8D"/>
                </a:solidFill>
                <a:latin typeface="맑은 고딕"/>
                <a:ea typeface="맑은 고딕"/>
              </a:rPr>
              <a:t>02 / 02</a:t>
            </a:r>
          </a:p>
        </p:txBody>
      </p:sp>
      <p:sp>
        <p:nvSpPr>
          <p:cNvPr id="9" name="Rectangle 8"/>
          <p:cNvSpPr/>
          <p:nvPr/>
        </p:nvSpPr>
        <p:spPr>
          <a:xfrm>
            <a:off x="737006" y="2084831"/>
            <a:ext cx="14630" cy="3246120"/>
          </a:xfrm>
          <a:prstGeom prst="rect">
            <a:avLst/>
          </a:prstGeom>
          <a:solidFill>
            <a:srgbClr val="D9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85216" y="1938528"/>
            <a:ext cx="320040" cy="320040"/>
          </a:xfrm>
          <a:prstGeom prst="ellipse">
            <a:avLst/>
          </a:prstGeom>
          <a:solidFill>
            <a:srgbClr val="E7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87F82"/>
                </a:solidFill>
                <a:latin typeface="맑은 고딕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929384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660" b="1" lang="ko-KR">
                <a:solidFill>
                  <a:srgbClr val="153C4D"/>
                </a:solidFill>
                <a:latin typeface="맑은 고딕"/>
                <a:ea typeface="맑은 고딕"/>
              </a:rPr>
              <a:t>새 프로젝트 · 생산조건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67712"/>
            <a:ext cx="36941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290" b="0" lang="ko-KR">
                <a:solidFill>
                  <a:srgbClr val="637F8D"/>
                </a:solidFill>
                <a:latin typeface="맑은 고딕"/>
                <a:ea typeface="맑은 고딕"/>
              </a:rPr>
              <a:t>제품명·비고를 시나리오별로 입력.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290" b="0" lang="ko-KR">
                <a:solidFill>
                  <a:srgbClr val="637F8D"/>
                </a:solidFill>
                <a:latin typeface="맑은 고딕"/>
                <a:ea typeface="맑은 고딕"/>
              </a:rPr>
              <a:t>배치·수율·포장형태·환율 설정</a:t>
            </a:r>
          </a:p>
        </p:txBody>
      </p:sp>
      <p:sp>
        <p:nvSpPr>
          <p:cNvPr id="13" name="Oval 12"/>
          <p:cNvSpPr/>
          <p:nvPr/>
        </p:nvSpPr>
        <p:spPr>
          <a:xfrm>
            <a:off x="585216" y="2880360"/>
            <a:ext cx="320040" cy="320040"/>
          </a:xfrm>
          <a:prstGeom prst="ellipse">
            <a:avLst/>
          </a:prstGeom>
          <a:solidFill>
            <a:srgbClr val="E7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87F82"/>
                </a:solidFill>
                <a:latin typeface="맑은 고딕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871216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660" b="1" lang="ko-KR">
                <a:solidFill>
                  <a:srgbClr val="153C4D"/>
                </a:solidFill>
                <a:latin typeface="맑은 고딕"/>
                <a:ea typeface="맑은 고딕"/>
              </a:rPr>
              <a:t>약가 · 원가 입력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209544"/>
            <a:ext cx="36941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290" b="0" lang="ko-KR">
                <a:solidFill>
                  <a:srgbClr val="637F8D"/>
                </a:solidFill>
                <a:latin typeface="맑은 고딕"/>
                <a:ea typeface="맑은 고딕"/>
              </a:rPr>
              <a:t>약가 모드·원료 투입량(mg/T)·단가,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290" b="0" lang="ko-KR">
                <a:solidFill>
                  <a:srgbClr val="637F8D"/>
                </a:solidFill>
                <a:latin typeface="맑은 고딕"/>
                <a:ea typeface="맑은 고딕"/>
              </a:rPr>
              <a:t>배치 전체 포자재비·공수비 입력</a:t>
            </a:r>
          </a:p>
        </p:txBody>
      </p:sp>
      <p:sp>
        <p:nvSpPr>
          <p:cNvPr id="16" name="Oval 15"/>
          <p:cNvSpPr/>
          <p:nvPr/>
        </p:nvSpPr>
        <p:spPr>
          <a:xfrm>
            <a:off x="585216" y="3822191"/>
            <a:ext cx="320040" cy="320040"/>
          </a:xfrm>
          <a:prstGeom prst="ellipse">
            <a:avLst/>
          </a:prstGeom>
          <a:solidFill>
            <a:srgbClr val="E7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87F82"/>
                </a:solidFill>
                <a:latin typeface="맑은 고딕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813048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660" b="1" lang="ko-KR">
                <a:solidFill>
                  <a:srgbClr val="153C4D"/>
                </a:solidFill>
                <a:latin typeface="맑은 고딕"/>
                <a:ea typeface="맑은 고딕"/>
              </a:rPr>
              <a:t>결과 확인 · 시나리오 비교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151376"/>
            <a:ext cx="36941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290" b="0" lang="ko-KR">
                <a:solidFill>
                  <a:srgbClr val="637F8D"/>
                </a:solidFill>
                <a:latin typeface="맑은 고딕"/>
                <a:ea typeface="맑은 고딕"/>
              </a:rPr>
              <a:t>‘현재 입력 복제’ 후 조건 변경.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290" b="0" lang="ko-KR">
                <a:solidFill>
                  <a:srgbClr val="637F8D"/>
                </a:solidFill>
                <a:latin typeface="맑은 고딕"/>
                <a:ea typeface="맑은 고딕"/>
              </a:rPr>
              <a:t>결과·비교 탭에서 최대 4개 안 비교</a:t>
            </a:r>
          </a:p>
        </p:txBody>
      </p:sp>
      <p:sp>
        <p:nvSpPr>
          <p:cNvPr id="19" name="Oval 18"/>
          <p:cNvSpPr/>
          <p:nvPr/>
        </p:nvSpPr>
        <p:spPr>
          <a:xfrm>
            <a:off x="585216" y="4764024"/>
            <a:ext cx="320040" cy="320040"/>
          </a:xfrm>
          <a:prstGeom prst="ellipse">
            <a:avLst/>
          </a:prstGeom>
          <a:solidFill>
            <a:srgbClr val="E7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87F82"/>
                </a:solidFill>
                <a:latin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754880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660" b="1" lang="ko-KR">
                <a:solidFill>
                  <a:srgbClr val="153C4D"/>
                </a:solidFill>
                <a:latin typeface="맑은 고딕"/>
                <a:ea typeface="맑은 고딕"/>
              </a:rPr>
              <a:t>SF · 이익 분석 (선택)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93208"/>
            <a:ext cx="36941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290" b="0" lang="ko-KR">
                <a:solidFill>
                  <a:srgbClr val="637F8D"/>
                </a:solidFill>
                <a:latin typeface="맑은 고딕"/>
                <a:ea typeface="맑은 고딕"/>
              </a:rPr>
              <a:t>사용 체크 → 기간(1~10년) 선택.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290" b="0" lang="ko-KR">
                <a:solidFill>
                  <a:srgbClr val="637F8D"/>
                </a:solidFill>
                <a:latin typeface="맑은 고딕"/>
                <a:ea typeface="맑은 고딕"/>
              </a:rPr>
              <a:t>연차별 판매수량(T) 입력 후 이익 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1920240"/>
            <a:ext cx="6537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lang="ko-KR">
                <a:solidFill>
                  <a:srgbClr val="153C4D"/>
                </a:solidFill>
                <a:latin typeface="맑은 고딕"/>
                <a:ea typeface="맑은 고딕"/>
              </a:rPr>
              <a:t>연차별 이익과 누적 이익을 시나리오별로 비교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84064" y="2295144"/>
            <a:ext cx="82296" cy="82296"/>
          </a:xfrm>
          <a:prstGeom prst="roundRect">
            <a:avLst>
              <a:gd name="adj" fmla="val 12000"/>
            </a:avLst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30368" y="224028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 lang="ko-KR">
                <a:solidFill>
                  <a:srgbClr val="637F8D"/>
                </a:solidFill>
                <a:latin typeface="맑은 고딕"/>
                <a:ea typeface="맑은 고딕"/>
              </a:rPr>
              <a:t>기본안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2295144"/>
            <a:ext cx="82296" cy="82296"/>
          </a:xfrm>
          <a:prstGeom prst="roundRect">
            <a:avLst>
              <a:gd name="adj" fmla="val 12000"/>
            </a:avLst>
          </a:prstGeom>
          <a:solidFill>
            <a:srgbClr val="8B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2240280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 lang="ko-KR">
                <a:solidFill>
                  <a:srgbClr val="637F8D"/>
                </a:solidFill>
                <a:latin typeface="맑은 고딕"/>
                <a:ea typeface="맑은 고딕"/>
              </a:rPr>
              <a:t>API 단가 절감안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5752" y="2249424"/>
            <a:ext cx="21579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019" b="0" lang="ko-KR">
                <a:solidFill>
                  <a:srgbClr val="637F8D"/>
                </a:solidFill>
                <a:latin typeface="맑은 고딕"/>
                <a:ea typeface="맑은 고딕"/>
              </a:rPr>
              <a:t>가상 예제 화면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10912" y="2569464"/>
            <a:ext cx="6611112" cy="20299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9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pro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615184"/>
            <a:ext cx="6483096" cy="1933141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5029200" y="4773168"/>
            <a:ext cx="6592824" cy="758952"/>
          </a:xfrm>
          <a:prstGeom prst="roundRect">
            <a:avLst>
              <a:gd name="adj" fmla="val 12000"/>
            </a:avLst>
          </a:prstGeom>
          <a:solidFill>
            <a:srgbClr val="E7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80" y="4882896"/>
            <a:ext cx="62179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380" b="1" lang="ko-KR">
                <a:solidFill>
                  <a:srgbClr val="087F82"/>
                </a:solidFill>
                <a:latin typeface="맑은 고딕"/>
                <a:ea typeface="맑은 고딕"/>
              </a:rPr>
              <a:t>예상이익 = 판매수량 × (연차별 약가 − 제조원가/T)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5230368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lang="ko-KR">
                <a:solidFill>
                  <a:srgbClr val="153C4D"/>
                </a:solidFill>
                <a:latin typeface="맑은 고딕"/>
                <a:ea typeface="맑은 고딕"/>
              </a:rPr>
              <a:t>예: 100,000T × (300원/T − 80원/T) = 22,000,000원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4064" y="5605272"/>
            <a:ext cx="65196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lang="ko-KR">
                <a:solidFill>
                  <a:srgbClr val="637F8D"/>
                </a:solidFill>
                <a:latin typeface="맑은 고딕"/>
                <a:ea typeface="맑은 고딕"/>
              </a:rPr>
              <a:t>제조원가만 반영한 예상이익이며, 판관비·개발비·세금은 제외합니다.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6035040"/>
            <a:ext cx="11055096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9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" y="6126480"/>
            <a:ext cx="107167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lang="ko-KR">
                <a:solidFill>
                  <a:srgbClr val="153C4D"/>
                </a:solidFill>
                <a:latin typeface="맑은 고딕"/>
                <a:ea typeface="맑은 고딕"/>
              </a:rPr>
              <a:t>보관·재사용: ‘프로젝트 저장’(JSON) → ‘파일 열기’     |     비교표는 ‘비교표 출력’으로 인쇄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93208" y="6565392"/>
            <a:ext cx="5669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 lang="ko-KR">
                <a:solidFill>
                  <a:srgbClr val="637F8D"/>
                </a:solidFill>
                <a:latin typeface="맑은 고딕"/>
                <a:ea typeface="맑은 고딕"/>
              </a:rPr>
              <a:t>오프라인 사용: ZIP 전체 폴더 보관 후 web/index.html 실행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의약품 제조원가율 시뮬레이터 | 소개 및 사용 방법</dc:title>
  <dc:subject>현행 웹 버전의 기능 소개와 작동 방법, 2장 요약</dc:subject>
  <dc:creator/>
  <cp:keywords>의약품, 제조원가율, 시나리오, SF, 사용 안내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