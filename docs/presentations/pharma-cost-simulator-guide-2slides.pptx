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 안내 자료의 입력 관련 내용을 한 장으로 요약했습니다. 세 그림은 현행 프로그램을 실행한 실제 화면이며 프로그램에 포함된 가상 예제를 사용했습니다. 제품명·비고와 계산조건은 시나리오별로 독립 저장됩니다. 약가 직접 입력은 우리 제품 약가를 사용하며, 예상 약가 계산은 회사·품목·시장 조건을 선택합니다. 약가 가산은 간편 가정입니다. 수율은 배치 전체 비용을 다시 보정하지 않고, 배치사이즈×수율로 나누어 1T당 비용을 산출할 때 적용합니다. API A 20mg/T·1,000,000원/kg, API B 10mg/T·2,000,000원/kg, 부형제 100mg/T·100,000원/kg입니다. 배치 100,000T, 수율 100%, 포자재비 1,000,000원/배치, 공수비 2,000,000원/배치로 총 제조원가 80원/T입니다. SF 예제는 100,000·180,000·250,000·350,000·450,000·550,000·650,000·750,000T입니다.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 안내 자료의 결과·비교·이익 분석 내용을 한 장으로 요약했습니다. 세 그림 모두 실제 프로그램 화면이며 가상 예제를 사용했습니다. 기본안의 API 40원/T, 부형제 10원/T, 포자재비 10원/T, 공수비 20원/T로 제조원가 80원/T, 약가 300원/T 대비 원가율 26.7%입니다. 도넛은 약가 전체 대비 비용과 차액, 세로 누적 막대는 제조원가 내 비용 비중을 표시합니다. 원가율이 100%를 넘으면 실제값을 표시하며 약가 0에서는 계산 불가를 표시합니다. API 단가를 절반으로 줄인 독립 시나리오는 제조원가 60원/T, 원가율 20.0%입니다. 시나리오는 최대 4개, 드래그로 순서를 정렬하고 비교표를 인쇄합니다. 비용 구성 아래 연차별 약가·제조원가에서 연차를 누르면 해당 도넛도 바뀝니다. SF 연간 이익과 1년차부터 해당 연차까지의 누적 이익은 시나리오별로 나란히 묶음 막대그래프로 표시합니다. 판매수량을 약가에 곱해 매출을 계산하며 현재 제조원가/T를 기간 내 일정하게 적용합니다. 1년차 100,000T 판매 시 기본안 22,000,000원, API 단가 절감안 24,000,000원, 8년 누적 721,600,000원과 787,200,000원입니다. 판관비·개발비·세금을 제외한 예상이익입니다. 프로젝트 저장으로 JSON 파일에 입력·시나리오·SF를 함께 저장하고 파일 열기로 복원합니다.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moothsea45.github.io/project1/" TargetMode="Externa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moothsea45.github.io/project1/" TargetMode="Externa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9"/>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087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65176"/>
            <a:ext cx="6858000" cy="182880"/>
          </a:xfrm>
          <a:prstGeom prst="rect">
            <a:avLst/>
          </a:prstGeom>
          <a:noFill/>
        </p:spPr>
        <p:txBody>
          <a:bodyPr wrap="square" lIns="0" rIns="0" tIns="0" bIns="0">
            <a:spAutoFit/>
          </a:bodyPr>
          <a:lstStyle/>
          <a:p>
            <a:pPr algn="l">
              <a:lnSpc>
                <a:spcPct val="116000"/>
              </a:lnSpc>
              <a:spcBef>
                <a:spcPts val="0"/>
              </a:spcBef>
              <a:spcAft>
                <a:spcPts val="100"/>
              </a:spcAft>
            </a:pPr>
            <a:r>
              <a:rPr sz="1030" b="1" lang="ko-KR">
                <a:solidFill>
                  <a:srgbClr val="087F82"/>
                </a:solidFill>
                <a:latin typeface="맑은 고딕"/>
                <a:ea typeface="맑은 고딕"/>
              </a:rPr>
              <a:t>의약품 제조원가율 시뮬레이터 · 사용 안내</a:t>
            </a:r>
          </a:p>
        </p:txBody>
      </p:sp>
      <p:sp>
        <p:nvSpPr>
          <p:cNvPr id="4" name="TextBox 3"/>
          <p:cNvSpPr txBox="1"/>
          <p:nvPr/>
        </p:nvSpPr>
        <p:spPr>
          <a:xfrm>
            <a:off x="9235440" y="265176"/>
            <a:ext cx="2377440" cy="182880"/>
          </a:xfrm>
          <a:prstGeom prst="rect">
            <a:avLst/>
          </a:prstGeom>
          <a:noFill/>
        </p:spPr>
        <p:txBody>
          <a:bodyPr wrap="square" lIns="0" rIns="0" tIns="0" bIns="0">
            <a:spAutoFit/>
          </a:bodyPr>
          <a:lstStyle/>
          <a:p>
            <a:pPr algn="r">
              <a:lnSpc>
                <a:spcPct val="116000"/>
              </a:lnSpc>
              <a:spcBef>
                <a:spcPts val="0"/>
              </a:spcBef>
              <a:spcAft>
                <a:spcPts val="100"/>
              </a:spcAft>
            </a:pPr>
            <a:r>
              <a:rPr sz="1010" b="0" lang="ko-KR">
                <a:solidFill>
                  <a:srgbClr val="637F8D"/>
                </a:solidFill>
                <a:latin typeface="맑은 고딕"/>
                <a:ea typeface="맑은 고딕"/>
              </a:rPr>
              <a:t>실제 화면 · 가상 예제</a:t>
            </a:r>
          </a:p>
        </p:txBody>
      </p:sp>
      <p:sp>
        <p:nvSpPr>
          <p:cNvPr id="5" name="TextBox 4"/>
          <p:cNvSpPr txBox="1"/>
          <p:nvPr/>
        </p:nvSpPr>
        <p:spPr>
          <a:xfrm>
            <a:off x="566928" y="585216"/>
            <a:ext cx="11064240" cy="438912"/>
          </a:xfrm>
          <a:prstGeom prst="rect">
            <a:avLst/>
          </a:prstGeom>
          <a:noFill/>
        </p:spPr>
        <p:txBody>
          <a:bodyPr wrap="square" lIns="0" rIns="0" tIns="0" bIns="0">
            <a:spAutoFit/>
          </a:bodyPr>
          <a:lstStyle/>
          <a:p>
            <a:pPr algn="l">
              <a:lnSpc>
                <a:spcPct val="116000"/>
              </a:lnSpc>
              <a:spcBef>
                <a:spcPts val="0"/>
              </a:spcBef>
              <a:spcAft>
                <a:spcPts val="100"/>
              </a:spcAft>
            </a:pPr>
            <a:r>
              <a:rPr sz="2670" b="1" lang="ko-KR">
                <a:solidFill>
                  <a:srgbClr val="153C4D"/>
                </a:solidFill>
                <a:latin typeface="맑은 고딕"/>
                <a:ea typeface="맑은 고딕"/>
              </a:rPr>
              <a:t>생산조건·약가·원가·판매수량을 입력합니다</a:t>
            </a:r>
          </a:p>
        </p:txBody>
      </p:sp>
      <p:sp>
        <p:nvSpPr>
          <p:cNvPr id="6" name="TextBox 5"/>
          <p:cNvSpPr txBox="1"/>
          <p:nvPr/>
        </p:nvSpPr>
        <p:spPr>
          <a:xfrm>
            <a:off x="585216" y="1097280"/>
            <a:ext cx="10972800" cy="265176"/>
          </a:xfrm>
          <a:prstGeom prst="rect">
            <a:avLst/>
          </a:prstGeom>
          <a:noFill/>
        </p:spPr>
        <p:txBody>
          <a:bodyPr wrap="square" lIns="0" rIns="0" tIns="0" bIns="0">
            <a:spAutoFit/>
          </a:bodyPr>
          <a:lstStyle/>
          <a:p>
            <a:pPr algn="l">
              <a:lnSpc>
                <a:spcPct val="116000"/>
              </a:lnSpc>
              <a:spcBef>
                <a:spcPts val="0"/>
              </a:spcBef>
              <a:spcAft>
                <a:spcPts val="100"/>
              </a:spcAft>
            </a:pPr>
            <a:r>
              <a:rPr sz="1300" b="0" lang="ko-KR">
                <a:solidFill>
                  <a:srgbClr val="637F8D"/>
                </a:solidFill>
                <a:latin typeface="맑은 고딕"/>
                <a:ea typeface="맑은 고딕"/>
              </a:rPr>
              <a:t>웹에서 실행하고 입력 즉시 계산합니다. 인터넷 없이도 사용하며, 시나리오별로 조건을 따로 관리합니다.</a:t>
            </a:r>
          </a:p>
        </p:txBody>
      </p:sp>
      <p:sp>
        <p:nvSpPr>
          <p:cNvPr id="7" name="TextBox 6"/>
          <p:cNvSpPr txBox="1"/>
          <p:nvPr/>
        </p:nvSpPr>
        <p:spPr>
          <a:xfrm>
            <a:off x="566928" y="6611112"/>
            <a:ext cx="4937760" cy="155448"/>
          </a:xfrm>
          <a:prstGeom prst="rect">
            <a:avLst/>
          </a:prstGeom>
          <a:noFill/>
        </p:spPr>
        <p:txBody>
          <a:bodyPr wrap="square" lIns="0" rIns="0" tIns="0" bIns="0">
            <a:spAutoFit/>
          </a:bodyPr>
          <a:lstStyle/>
          <a:p>
            <a:pPr algn="l">
              <a:lnSpc>
                <a:spcPct val="116000"/>
              </a:lnSpc>
              <a:spcBef>
                <a:spcPts val="0"/>
              </a:spcBef>
              <a:spcAft>
                <a:spcPts val="100"/>
              </a:spcAft>
            </a:pPr>
            <a:r>
              <a:rPr sz="880" b="0" lang="ko-KR">
                <a:solidFill>
                  <a:srgbClr val="087F82"/>
                </a:solidFill>
                <a:latin typeface="맑은 고딕"/>
                <a:ea typeface="맑은 고딕"/>
                <a:hlinkClick r:id="rId2"/>
              </a:rPr>
              <a:t>https://smoothsea45.github.io/project1/</a:t>
            </a:r>
          </a:p>
        </p:txBody>
      </p:sp>
      <p:sp>
        <p:nvSpPr>
          <p:cNvPr id="8" name="TextBox 7"/>
          <p:cNvSpPr txBox="1"/>
          <p:nvPr/>
        </p:nvSpPr>
        <p:spPr>
          <a:xfrm>
            <a:off x="9875520" y="6611112"/>
            <a:ext cx="1737360" cy="155448"/>
          </a:xfrm>
          <a:prstGeom prst="rect">
            <a:avLst/>
          </a:prstGeom>
          <a:noFill/>
        </p:spPr>
        <p:txBody>
          <a:bodyPr wrap="square" lIns="0" rIns="0" tIns="0" bIns="0">
            <a:spAutoFit/>
          </a:bodyPr>
          <a:lstStyle/>
          <a:p>
            <a:pPr algn="r">
              <a:lnSpc>
                <a:spcPct val="116000"/>
              </a:lnSpc>
              <a:spcBef>
                <a:spcPts val="0"/>
              </a:spcBef>
              <a:spcAft>
                <a:spcPts val="100"/>
              </a:spcAft>
            </a:pPr>
            <a:r>
              <a:rPr sz="880" b="0" lang="ko-KR">
                <a:solidFill>
                  <a:srgbClr val="637F8D"/>
                </a:solidFill>
                <a:latin typeface="맑은 고딕"/>
                <a:ea typeface="맑은 고딕"/>
              </a:rPr>
              <a:t>2장 요약본  |  01 / 02</a:t>
            </a:r>
          </a:p>
        </p:txBody>
      </p:sp>
      <p:sp>
        <p:nvSpPr>
          <p:cNvPr id="9" name="Rounded Rectangle 8"/>
          <p:cNvSpPr/>
          <p:nvPr/>
        </p:nvSpPr>
        <p:spPr>
          <a:xfrm>
            <a:off x="585216" y="1645920"/>
            <a:ext cx="301752" cy="274320"/>
          </a:xfrm>
          <a:prstGeom prst="roundRect">
            <a:avLst>
              <a:gd name="adj" fmla="val 12000"/>
            </a:avLst>
          </a:prstGeom>
          <a:solidFill>
            <a:srgbClr val="E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677924"/>
            <a:ext cx="301752" cy="173736"/>
          </a:xfrm>
          <a:prstGeom prst="rect">
            <a:avLst/>
          </a:prstGeom>
          <a:noFill/>
        </p:spPr>
        <p:txBody>
          <a:bodyPr wrap="square" lIns="0" rIns="0" tIns="0" bIns="0">
            <a:spAutoFit/>
          </a:bodyPr>
          <a:lstStyle/>
          <a:p>
            <a:pPr algn="ctr">
              <a:lnSpc>
                <a:spcPct val="116000"/>
              </a:lnSpc>
              <a:spcBef>
                <a:spcPts val="0"/>
              </a:spcBef>
              <a:spcAft>
                <a:spcPts val="100"/>
              </a:spcAft>
            </a:pPr>
            <a:r>
              <a:rPr sz="1019" b="1" lang="ko-KR">
                <a:solidFill>
                  <a:srgbClr val="087F82"/>
                </a:solidFill>
                <a:latin typeface="맑은 고딕"/>
                <a:ea typeface="맑은 고딕"/>
              </a:rPr>
              <a:t>01</a:t>
            </a:r>
          </a:p>
        </p:txBody>
      </p:sp>
      <p:sp>
        <p:nvSpPr>
          <p:cNvPr id="11" name="TextBox 10"/>
          <p:cNvSpPr txBox="1"/>
          <p:nvPr/>
        </p:nvSpPr>
        <p:spPr>
          <a:xfrm>
            <a:off x="996696" y="1632204"/>
            <a:ext cx="3191256" cy="292608"/>
          </a:xfrm>
          <a:prstGeom prst="rect">
            <a:avLst/>
          </a:prstGeom>
          <a:noFill/>
        </p:spPr>
        <p:txBody>
          <a:bodyPr wrap="square" lIns="0" rIns="0" tIns="0" bIns="0">
            <a:spAutoFit/>
          </a:bodyPr>
          <a:lstStyle/>
          <a:p>
            <a:pPr algn="l">
              <a:lnSpc>
                <a:spcPct val="116000"/>
              </a:lnSpc>
              <a:spcBef>
                <a:spcPts val="0"/>
              </a:spcBef>
              <a:spcAft>
                <a:spcPts val="100"/>
              </a:spcAft>
            </a:pPr>
            <a:r>
              <a:rPr sz="1500" b="1" lang="ko-KR">
                <a:solidFill>
                  <a:srgbClr val="153C4D"/>
                </a:solidFill>
                <a:latin typeface="맑은 고딕"/>
                <a:ea typeface="맑은 고딕"/>
              </a:rPr>
              <a:t>제품·생산조건</a:t>
            </a:r>
          </a:p>
        </p:txBody>
      </p:sp>
      <p:sp>
        <p:nvSpPr>
          <p:cNvPr id="12" name="TextBox 11"/>
          <p:cNvSpPr txBox="1"/>
          <p:nvPr/>
        </p:nvSpPr>
        <p:spPr>
          <a:xfrm>
            <a:off x="603504" y="2011680"/>
            <a:ext cx="3566160" cy="1005840"/>
          </a:xfrm>
          <a:prstGeom prst="rect">
            <a:avLst/>
          </a:prstGeom>
          <a:noFill/>
        </p:spPr>
        <p:txBody>
          <a:bodyPr wrap="square" lIns="0" rIns="0" tIns="0" bIns="0">
            <a:spAutoFit/>
          </a:bodyPr>
          <a:lstStyle/>
          <a:p>
            <a:pPr algn="l">
              <a:lnSpc>
                <a:spcPct val="116000"/>
              </a:lnSpc>
              <a:spcBef>
                <a:spcPts val="0"/>
              </a:spcBef>
              <a:spcAft>
                <a:spcPts val="100"/>
              </a:spcAft>
            </a:pPr>
            <a:r>
              <a:rPr sz="1200" b="0" lang="ko-KR">
                <a:solidFill>
                  <a:srgbClr val="637F8D"/>
                </a:solidFill>
                <a:latin typeface="맑은 고딕"/>
                <a:ea typeface="맑은 고딕"/>
              </a:rPr>
              <a:t>제품명·비고는 시나리오별 입력</a:t>
            </a:r>
          </a:p>
          <a:p>
            <a:pPr algn="l">
              <a:lnSpc>
                <a:spcPct val="116000"/>
              </a:lnSpc>
              <a:spcBef>
                <a:spcPts val="0"/>
              </a:spcBef>
              <a:spcAft>
                <a:spcPts val="100"/>
              </a:spcAft>
            </a:pPr>
            <a:r>
              <a:rPr sz="1200" b="0" lang="ko-KR">
                <a:solidFill>
                  <a:srgbClr val="637F8D"/>
                </a:solidFill>
                <a:latin typeface="맑은 고딕"/>
                <a:ea typeface="맑은 고딕"/>
              </a:rPr>
              <a:t>배치: 손실 발생 전 기준 수량(T)</a:t>
            </a:r>
          </a:p>
          <a:p>
            <a:pPr algn="l">
              <a:lnSpc>
                <a:spcPct val="116000"/>
              </a:lnSpc>
              <a:spcBef>
                <a:spcPts val="0"/>
              </a:spcBef>
              <a:spcAft>
                <a:spcPts val="100"/>
              </a:spcAft>
            </a:pPr>
            <a:r>
              <a:rPr sz="1200" b="0" lang="ko-KR">
                <a:solidFill>
                  <a:srgbClr val="637F8D"/>
                </a:solidFill>
                <a:latin typeface="맑은 고딕"/>
                <a:ea typeface="맑은 고딕"/>
              </a:rPr>
              <a:t>수율: 기본 100% · 포장형태 입력</a:t>
            </a:r>
          </a:p>
          <a:p>
            <a:pPr algn="l">
              <a:lnSpc>
                <a:spcPct val="116000"/>
              </a:lnSpc>
              <a:spcBef>
                <a:spcPts val="0"/>
              </a:spcBef>
              <a:spcAft>
                <a:spcPts val="100"/>
              </a:spcAft>
            </a:pPr>
            <a:r>
              <a:rPr sz="1200" b="0" lang="ko-KR">
                <a:solidFill>
                  <a:srgbClr val="637F8D"/>
                </a:solidFill>
                <a:latin typeface="맑은 고딕"/>
                <a:ea typeface="맑은 고딕"/>
              </a:rPr>
              <a:t>달러 환율: 원/USD</a:t>
            </a:r>
          </a:p>
        </p:txBody>
      </p:sp>
      <p:sp>
        <p:nvSpPr>
          <p:cNvPr id="13" name="Rounded Rectangle 12"/>
          <p:cNvSpPr/>
          <p:nvPr/>
        </p:nvSpPr>
        <p:spPr>
          <a:xfrm>
            <a:off x="585216" y="3099816"/>
            <a:ext cx="301752" cy="274320"/>
          </a:xfrm>
          <a:prstGeom prst="roundRect">
            <a:avLst>
              <a:gd name="adj" fmla="val 12000"/>
            </a:avLst>
          </a:prstGeom>
          <a:solidFill>
            <a:srgbClr val="E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 y="3131820"/>
            <a:ext cx="301752" cy="173736"/>
          </a:xfrm>
          <a:prstGeom prst="rect">
            <a:avLst/>
          </a:prstGeom>
          <a:noFill/>
        </p:spPr>
        <p:txBody>
          <a:bodyPr wrap="square" lIns="0" rIns="0" tIns="0" bIns="0">
            <a:spAutoFit/>
          </a:bodyPr>
          <a:lstStyle/>
          <a:p>
            <a:pPr algn="ctr">
              <a:lnSpc>
                <a:spcPct val="116000"/>
              </a:lnSpc>
              <a:spcBef>
                <a:spcPts val="0"/>
              </a:spcBef>
              <a:spcAft>
                <a:spcPts val="100"/>
              </a:spcAft>
            </a:pPr>
            <a:r>
              <a:rPr sz="1019" b="1" lang="ko-KR">
                <a:solidFill>
                  <a:srgbClr val="087F82"/>
                </a:solidFill>
                <a:latin typeface="맑은 고딕"/>
                <a:ea typeface="맑은 고딕"/>
              </a:rPr>
              <a:t>02</a:t>
            </a:r>
          </a:p>
        </p:txBody>
      </p:sp>
      <p:sp>
        <p:nvSpPr>
          <p:cNvPr id="15" name="TextBox 14"/>
          <p:cNvSpPr txBox="1"/>
          <p:nvPr/>
        </p:nvSpPr>
        <p:spPr>
          <a:xfrm>
            <a:off x="996696" y="3086100"/>
            <a:ext cx="3191256" cy="292608"/>
          </a:xfrm>
          <a:prstGeom prst="rect">
            <a:avLst/>
          </a:prstGeom>
          <a:noFill/>
        </p:spPr>
        <p:txBody>
          <a:bodyPr wrap="square" lIns="0" rIns="0" tIns="0" bIns="0">
            <a:spAutoFit/>
          </a:bodyPr>
          <a:lstStyle/>
          <a:p>
            <a:pPr algn="l">
              <a:lnSpc>
                <a:spcPct val="116000"/>
              </a:lnSpc>
              <a:spcBef>
                <a:spcPts val="0"/>
              </a:spcBef>
              <a:spcAft>
                <a:spcPts val="100"/>
              </a:spcAft>
            </a:pPr>
            <a:r>
              <a:rPr sz="1500" b="1" lang="ko-KR">
                <a:solidFill>
                  <a:srgbClr val="153C4D"/>
                </a:solidFill>
                <a:latin typeface="맑은 고딕"/>
                <a:ea typeface="맑은 고딕"/>
              </a:rPr>
              <a:t>약가·원료·고정비</a:t>
            </a:r>
          </a:p>
        </p:txBody>
      </p:sp>
      <p:sp>
        <p:nvSpPr>
          <p:cNvPr id="16" name="TextBox 15"/>
          <p:cNvSpPr txBox="1"/>
          <p:nvPr/>
        </p:nvSpPr>
        <p:spPr>
          <a:xfrm>
            <a:off x="603504" y="3465576"/>
            <a:ext cx="3566160" cy="1472184"/>
          </a:xfrm>
          <a:prstGeom prst="rect">
            <a:avLst/>
          </a:prstGeom>
          <a:noFill/>
        </p:spPr>
        <p:txBody>
          <a:bodyPr wrap="square" lIns="0" rIns="0" tIns="0" bIns="0">
            <a:spAutoFit/>
          </a:bodyPr>
          <a:lstStyle/>
          <a:p>
            <a:pPr algn="l">
              <a:lnSpc>
                <a:spcPct val="116000"/>
              </a:lnSpc>
              <a:spcBef>
                <a:spcPts val="0"/>
              </a:spcBef>
              <a:spcAft>
                <a:spcPts val="100"/>
              </a:spcAft>
            </a:pPr>
            <a:r>
              <a:rPr sz="1200" b="0" lang="ko-KR">
                <a:solidFill>
                  <a:srgbClr val="637F8D"/>
                </a:solidFill>
                <a:latin typeface="맑은 고딕"/>
                <a:ea typeface="맑은 고딕"/>
              </a:rPr>
              <a:t>약가: 직접 입력 / 조건별 예상 계산</a:t>
            </a:r>
          </a:p>
          <a:p>
            <a:pPr algn="l">
              <a:lnSpc>
                <a:spcPct val="116000"/>
              </a:lnSpc>
              <a:spcBef>
                <a:spcPts val="0"/>
              </a:spcBef>
              <a:spcAft>
                <a:spcPts val="100"/>
              </a:spcAft>
            </a:pPr>
            <a:r>
              <a:rPr sz="1200" b="0" lang="ko-KR">
                <a:solidFill>
                  <a:srgbClr val="637F8D"/>
                </a:solidFill>
                <a:latin typeface="맑은 고딕"/>
                <a:ea typeface="맑은 고딕"/>
              </a:rPr>
              <a:t>예상 계산: 회사·품목·시장 조건 선택</a:t>
            </a:r>
          </a:p>
          <a:p>
            <a:pPr algn="l">
              <a:lnSpc>
                <a:spcPct val="116000"/>
              </a:lnSpc>
              <a:spcBef>
                <a:spcPts val="0"/>
              </a:spcBef>
              <a:spcAft>
                <a:spcPts val="100"/>
              </a:spcAft>
            </a:pPr>
            <a:r>
              <a:rPr sz="1200" b="0" lang="ko-KR">
                <a:solidFill>
                  <a:srgbClr val="637F8D"/>
                </a:solidFill>
                <a:latin typeface="맑은 고딕"/>
                <a:ea typeface="맑은 고딕"/>
              </a:rPr>
              <a:t>원료: API·부형제 추가, 실제 mg/T</a:t>
            </a:r>
          </a:p>
          <a:p>
            <a:pPr algn="l">
              <a:lnSpc>
                <a:spcPct val="116000"/>
              </a:lnSpc>
              <a:spcBef>
                <a:spcPts val="0"/>
              </a:spcBef>
              <a:spcAft>
                <a:spcPts val="100"/>
              </a:spcAft>
            </a:pPr>
            <a:r>
              <a:rPr sz="1200" b="0" lang="ko-KR">
                <a:solidFill>
                  <a:srgbClr val="637F8D"/>
                </a:solidFill>
                <a:latin typeface="맑은 고딕"/>
                <a:ea typeface="맑은 고딕"/>
              </a:rPr>
              <a:t>단위: 원/g·원/kg·달러/g·달러/kg</a:t>
            </a:r>
          </a:p>
          <a:p>
            <a:pPr algn="l">
              <a:lnSpc>
                <a:spcPct val="116000"/>
              </a:lnSpc>
              <a:spcBef>
                <a:spcPts val="0"/>
              </a:spcBef>
              <a:spcAft>
                <a:spcPts val="100"/>
              </a:spcAft>
            </a:pPr>
            <a:r>
              <a:rPr sz="1200" b="0" lang="ko-KR">
                <a:solidFill>
                  <a:srgbClr val="637F8D"/>
                </a:solidFill>
                <a:latin typeface="맑은 고딕"/>
                <a:ea typeface="맑은 고딕"/>
              </a:rPr>
              <a:t>달러 단가는 입력 환율로 원화 환산</a:t>
            </a:r>
          </a:p>
          <a:p>
            <a:pPr algn="l">
              <a:lnSpc>
                <a:spcPct val="116000"/>
              </a:lnSpc>
              <a:spcBef>
                <a:spcPts val="0"/>
              </a:spcBef>
              <a:spcAft>
                <a:spcPts val="100"/>
              </a:spcAft>
            </a:pPr>
            <a:r>
              <a:rPr sz="1200" b="0" lang="ko-KR">
                <a:solidFill>
                  <a:srgbClr val="637F8D"/>
                </a:solidFill>
                <a:latin typeface="맑은 고딕"/>
                <a:ea typeface="맑은 고딕"/>
              </a:rPr>
              <a:t>포자재비·공수비: 배치 전체 금액</a:t>
            </a:r>
          </a:p>
        </p:txBody>
      </p:sp>
      <p:sp>
        <p:nvSpPr>
          <p:cNvPr id="17" name="Rounded Rectangle 16"/>
          <p:cNvSpPr/>
          <p:nvPr/>
        </p:nvSpPr>
        <p:spPr>
          <a:xfrm>
            <a:off x="585216" y="4846320"/>
            <a:ext cx="301752" cy="274320"/>
          </a:xfrm>
          <a:prstGeom prst="roundRect">
            <a:avLst>
              <a:gd name="adj" fmla="val 12000"/>
            </a:avLst>
          </a:prstGeom>
          <a:solidFill>
            <a:srgbClr val="E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4878324"/>
            <a:ext cx="301752" cy="173736"/>
          </a:xfrm>
          <a:prstGeom prst="rect">
            <a:avLst/>
          </a:prstGeom>
          <a:noFill/>
        </p:spPr>
        <p:txBody>
          <a:bodyPr wrap="square" lIns="0" rIns="0" tIns="0" bIns="0">
            <a:spAutoFit/>
          </a:bodyPr>
          <a:lstStyle/>
          <a:p>
            <a:pPr algn="ctr">
              <a:lnSpc>
                <a:spcPct val="116000"/>
              </a:lnSpc>
              <a:spcBef>
                <a:spcPts val="0"/>
              </a:spcBef>
              <a:spcAft>
                <a:spcPts val="100"/>
              </a:spcAft>
            </a:pPr>
            <a:r>
              <a:rPr sz="1019" b="1" lang="ko-KR">
                <a:solidFill>
                  <a:srgbClr val="087F82"/>
                </a:solidFill>
                <a:latin typeface="맑은 고딕"/>
                <a:ea typeface="맑은 고딕"/>
              </a:rPr>
              <a:t>03</a:t>
            </a:r>
          </a:p>
        </p:txBody>
      </p:sp>
      <p:sp>
        <p:nvSpPr>
          <p:cNvPr id="19" name="TextBox 18"/>
          <p:cNvSpPr txBox="1"/>
          <p:nvPr/>
        </p:nvSpPr>
        <p:spPr>
          <a:xfrm>
            <a:off x="996696" y="4832604"/>
            <a:ext cx="3191256" cy="292608"/>
          </a:xfrm>
          <a:prstGeom prst="rect">
            <a:avLst/>
          </a:prstGeom>
          <a:noFill/>
        </p:spPr>
        <p:txBody>
          <a:bodyPr wrap="square" lIns="0" rIns="0" tIns="0" bIns="0">
            <a:spAutoFit/>
          </a:bodyPr>
          <a:lstStyle/>
          <a:p>
            <a:pPr algn="l">
              <a:lnSpc>
                <a:spcPct val="116000"/>
              </a:lnSpc>
              <a:spcBef>
                <a:spcPts val="0"/>
              </a:spcBef>
              <a:spcAft>
                <a:spcPts val="100"/>
              </a:spcAft>
            </a:pPr>
            <a:r>
              <a:rPr sz="1500" b="1" lang="ko-KR">
                <a:solidFill>
                  <a:srgbClr val="153C4D"/>
                </a:solidFill>
                <a:latin typeface="맑은 고딕"/>
                <a:ea typeface="맑은 고딕"/>
              </a:rPr>
              <a:t>SF·이익 분석 (선택)</a:t>
            </a:r>
          </a:p>
        </p:txBody>
      </p:sp>
      <p:sp>
        <p:nvSpPr>
          <p:cNvPr id="20" name="TextBox 19"/>
          <p:cNvSpPr txBox="1"/>
          <p:nvPr/>
        </p:nvSpPr>
        <p:spPr>
          <a:xfrm>
            <a:off x="603504" y="5212080"/>
            <a:ext cx="3566160" cy="772668"/>
          </a:xfrm>
          <a:prstGeom prst="rect">
            <a:avLst/>
          </a:prstGeom>
          <a:noFill/>
        </p:spPr>
        <p:txBody>
          <a:bodyPr wrap="square" lIns="0" rIns="0" tIns="0" bIns="0">
            <a:spAutoFit/>
          </a:bodyPr>
          <a:lstStyle/>
          <a:p>
            <a:pPr algn="l">
              <a:lnSpc>
                <a:spcPct val="116000"/>
              </a:lnSpc>
              <a:spcBef>
                <a:spcPts val="0"/>
              </a:spcBef>
              <a:spcAft>
                <a:spcPts val="100"/>
              </a:spcAft>
            </a:pPr>
            <a:r>
              <a:rPr sz="1200" b="0" lang="ko-KR">
                <a:solidFill>
                  <a:srgbClr val="637F8D"/>
                </a:solidFill>
                <a:latin typeface="맑은 고딕"/>
                <a:ea typeface="맑은 고딕"/>
              </a:rPr>
              <a:t>사용 체크 → 기간 1~10년 선택</a:t>
            </a:r>
          </a:p>
          <a:p>
            <a:pPr algn="l">
              <a:lnSpc>
                <a:spcPct val="116000"/>
              </a:lnSpc>
              <a:spcBef>
                <a:spcPts val="0"/>
              </a:spcBef>
              <a:spcAft>
                <a:spcPts val="100"/>
              </a:spcAft>
            </a:pPr>
            <a:r>
              <a:rPr sz="1200" b="0" lang="ko-KR">
                <a:solidFill>
                  <a:srgbClr val="637F8D"/>
                </a:solidFill>
                <a:latin typeface="맑은 고딕"/>
                <a:ea typeface="맑은 고딕"/>
              </a:rPr>
              <a:t>연차별 판매수량(T)을 정수로 입력</a:t>
            </a:r>
          </a:p>
          <a:p>
            <a:pPr algn="l">
              <a:lnSpc>
                <a:spcPct val="116000"/>
              </a:lnSpc>
              <a:spcBef>
                <a:spcPts val="0"/>
              </a:spcBef>
              <a:spcAft>
                <a:spcPts val="100"/>
              </a:spcAft>
            </a:pPr>
            <a:r>
              <a:rPr sz="1200" b="0" lang="ko-KR">
                <a:solidFill>
                  <a:srgbClr val="637F8D"/>
                </a:solidFill>
                <a:latin typeface="맑은 고딕"/>
                <a:ea typeface="맑은 고딕"/>
              </a:rPr>
              <a:t>공통 SF 또는 시나리오별 별도 SF</a:t>
            </a:r>
          </a:p>
        </p:txBody>
      </p:sp>
      <p:sp>
        <p:nvSpPr>
          <p:cNvPr id="21" name="TextBox 20"/>
          <p:cNvSpPr txBox="1"/>
          <p:nvPr/>
        </p:nvSpPr>
        <p:spPr>
          <a:xfrm>
            <a:off x="4425696" y="1618488"/>
            <a:ext cx="7178040" cy="201168"/>
          </a:xfrm>
          <a:prstGeom prst="rect">
            <a:avLst/>
          </a:prstGeom>
          <a:noFill/>
        </p:spPr>
        <p:txBody>
          <a:bodyPr wrap="square" lIns="0" rIns="0" tIns="0" bIns="0">
            <a:spAutoFit/>
          </a:bodyPr>
          <a:lstStyle/>
          <a:p>
            <a:pPr algn="l">
              <a:lnSpc>
                <a:spcPct val="116000"/>
              </a:lnSpc>
              <a:spcBef>
                <a:spcPts val="0"/>
              </a:spcBef>
              <a:spcAft>
                <a:spcPts val="100"/>
              </a:spcAft>
            </a:pPr>
            <a:r>
              <a:rPr sz="1070" b="1" lang="ko-KR">
                <a:solidFill>
                  <a:srgbClr val="087F82"/>
                </a:solidFill>
                <a:latin typeface="맑은 고딕"/>
                <a:ea typeface="맑은 고딕"/>
              </a:rPr>
              <a:t>실제 입력 화면  |  위: 제품·생산조건  /  아래: 원료·고정비</a:t>
            </a:r>
          </a:p>
        </p:txBody>
      </p:sp>
      <p:pic>
        <p:nvPicPr>
          <p:cNvPr id="22" name="Picture 21" descr="input-context.png"/>
          <p:cNvPicPr>
            <a:picLocks noChangeAspect="1"/>
          </p:cNvPicPr>
          <p:nvPr/>
        </p:nvPicPr>
        <p:blipFill>
          <a:blip r:embed="rId3"/>
          <a:stretch>
            <a:fillRect/>
          </a:stretch>
        </p:blipFill>
        <p:spPr>
          <a:xfrm>
            <a:off x="4425696" y="1892807"/>
            <a:ext cx="7196328" cy="568742"/>
          </a:xfrm>
          <a:prstGeom prst="rect">
            <a:avLst/>
          </a:prstGeom>
        </p:spPr>
      </p:pic>
      <p:pic>
        <p:nvPicPr>
          <p:cNvPr id="23" name="Picture 22" descr="input-materials.png"/>
          <p:cNvPicPr>
            <a:picLocks noChangeAspect="1"/>
          </p:cNvPicPr>
          <p:nvPr/>
        </p:nvPicPr>
        <p:blipFill>
          <a:blip r:embed="rId4"/>
          <a:stretch>
            <a:fillRect/>
          </a:stretch>
        </p:blipFill>
        <p:spPr>
          <a:xfrm>
            <a:off x="4425696" y="2596896"/>
            <a:ext cx="7196328" cy="2250488"/>
          </a:xfrm>
          <a:prstGeom prst="rect">
            <a:avLst/>
          </a:prstGeom>
        </p:spPr>
      </p:pic>
      <p:sp>
        <p:nvSpPr>
          <p:cNvPr id="24" name="TextBox 23"/>
          <p:cNvSpPr txBox="1"/>
          <p:nvPr/>
        </p:nvSpPr>
        <p:spPr>
          <a:xfrm>
            <a:off x="4425696" y="4965192"/>
            <a:ext cx="7178040" cy="210312"/>
          </a:xfrm>
          <a:prstGeom prst="rect">
            <a:avLst/>
          </a:prstGeom>
          <a:noFill/>
        </p:spPr>
        <p:txBody>
          <a:bodyPr wrap="square" lIns="0" rIns="0" tIns="0" bIns="0">
            <a:spAutoFit/>
          </a:bodyPr>
          <a:lstStyle/>
          <a:p>
            <a:pPr algn="l">
              <a:lnSpc>
                <a:spcPct val="116000"/>
              </a:lnSpc>
              <a:spcBef>
                <a:spcPts val="0"/>
              </a:spcBef>
              <a:spcAft>
                <a:spcPts val="100"/>
              </a:spcAft>
            </a:pPr>
            <a:r>
              <a:rPr sz="1070" b="1" lang="ko-KR">
                <a:solidFill>
                  <a:srgbClr val="087F82"/>
                </a:solidFill>
                <a:latin typeface="맑은 고딕"/>
                <a:ea typeface="맑은 고딕"/>
              </a:rPr>
              <a:t>SF 판매수량(T) 입력  |  예: 8년 분석</a:t>
            </a:r>
          </a:p>
        </p:txBody>
      </p:sp>
      <p:pic>
        <p:nvPicPr>
          <p:cNvPr id="25" name="Picture 24" descr="sf-table.png"/>
          <p:cNvPicPr>
            <a:picLocks noChangeAspect="1"/>
          </p:cNvPicPr>
          <p:nvPr/>
        </p:nvPicPr>
        <p:blipFill>
          <a:blip r:embed="rId5"/>
          <a:stretch>
            <a:fillRect/>
          </a:stretch>
        </p:blipFill>
        <p:spPr>
          <a:xfrm>
            <a:off x="4425696" y="5266944"/>
            <a:ext cx="7196328" cy="530877"/>
          </a:xfrm>
          <a:prstGeom prst="rect">
            <a:avLst/>
          </a:prstGeom>
        </p:spPr>
      </p:pic>
      <p:sp>
        <p:nvSpPr>
          <p:cNvPr id="26" name="Rounded Rectangle 25"/>
          <p:cNvSpPr/>
          <p:nvPr/>
        </p:nvSpPr>
        <p:spPr>
          <a:xfrm>
            <a:off x="566928" y="5971032"/>
            <a:ext cx="11055096" cy="475488"/>
          </a:xfrm>
          <a:prstGeom prst="roundRect">
            <a:avLst>
              <a:gd name="adj" fmla="val 12000"/>
            </a:avLst>
          </a:prstGeom>
          <a:solidFill>
            <a:srgbClr val="E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6035040"/>
            <a:ext cx="10716768" cy="182880"/>
          </a:xfrm>
          <a:prstGeom prst="rect">
            <a:avLst/>
          </a:prstGeom>
          <a:noFill/>
        </p:spPr>
        <p:txBody>
          <a:bodyPr wrap="square" lIns="0" rIns="0" tIns="0" bIns="0">
            <a:spAutoFit/>
          </a:bodyPr>
          <a:lstStyle/>
          <a:p>
            <a:pPr algn="l">
              <a:lnSpc>
                <a:spcPct val="116000"/>
              </a:lnSpc>
              <a:spcBef>
                <a:spcPts val="0"/>
              </a:spcBef>
              <a:spcAft>
                <a:spcPts val="100"/>
              </a:spcAft>
            </a:pPr>
            <a:r>
              <a:rPr sz="1190" b="1" lang="ko-KR">
                <a:solidFill>
                  <a:srgbClr val="087F82"/>
                </a:solidFill>
                <a:latin typeface="맑은 고딕"/>
                <a:ea typeface="맑은 고딕"/>
              </a:rPr>
              <a:t>1T당 비용 = 배치 전체 비용 ÷ (배치사이즈 × 수율)     |     수율 80%는 0.8로 적용</a:t>
            </a:r>
          </a:p>
        </p:txBody>
      </p:sp>
      <p:sp>
        <p:nvSpPr>
          <p:cNvPr id="28" name="TextBox 27"/>
          <p:cNvSpPr txBox="1"/>
          <p:nvPr/>
        </p:nvSpPr>
        <p:spPr>
          <a:xfrm>
            <a:off x="722376" y="6245352"/>
            <a:ext cx="10716768" cy="164592"/>
          </a:xfrm>
          <a:prstGeom prst="rect">
            <a:avLst/>
          </a:prstGeom>
          <a:noFill/>
        </p:spPr>
        <p:txBody>
          <a:bodyPr wrap="square" lIns="0" rIns="0" tIns="0" bIns="0">
            <a:spAutoFit/>
          </a:bodyPr>
          <a:lstStyle/>
          <a:p>
            <a:pPr algn="l">
              <a:lnSpc>
                <a:spcPct val="116000"/>
              </a:lnSpc>
              <a:spcBef>
                <a:spcPts val="0"/>
              </a:spcBef>
              <a:spcAft>
                <a:spcPts val="100"/>
              </a:spcAft>
            </a:pPr>
            <a:r>
              <a:rPr sz="1080" b="0" lang="ko-KR">
                <a:solidFill>
                  <a:srgbClr val="153C4D"/>
                </a:solidFill>
                <a:latin typeface="맑은 고딕"/>
                <a:ea typeface="맑은 고딕"/>
              </a:rPr>
              <a:t>제조원가 = API + 부형제 + 포자재비 + 공수비  (모두 원/T)</a:t>
            </a:r>
          </a:p>
        </p:txBody>
      </p:sp>
      <p:sp>
        <p:nvSpPr>
          <p:cNvPr id="29" name="TextBox 28"/>
          <p:cNvSpPr txBox="1"/>
          <p:nvPr/>
        </p:nvSpPr>
        <p:spPr>
          <a:xfrm>
            <a:off x="585216" y="6464808"/>
            <a:ext cx="10972800" cy="137160"/>
          </a:xfrm>
          <a:prstGeom prst="rect">
            <a:avLst/>
          </a:prstGeom>
          <a:noFill/>
        </p:spPr>
        <p:txBody>
          <a:bodyPr wrap="square" lIns="0" rIns="0" tIns="0" bIns="0">
            <a:spAutoFit/>
          </a:bodyPr>
          <a:lstStyle/>
          <a:p>
            <a:pPr algn="l">
              <a:lnSpc>
                <a:spcPct val="116000"/>
              </a:lnSpc>
              <a:spcBef>
                <a:spcPts val="0"/>
              </a:spcBef>
              <a:spcAft>
                <a:spcPts val="100"/>
              </a:spcAft>
            </a:pPr>
            <a:r>
              <a:rPr sz="840" b="0" lang="ko-KR">
                <a:solidFill>
                  <a:srgbClr val="637F8D"/>
                </a:solidFill>
                <a:latin typeface="맑은 고딕"/>
                <a:ea typeface="맑은 고딕"/>
              </a:rPr>
              <a:t>T는 정·캡슐 등 단위제형입니다. 직접 입력 모드에서는 약가 조건이 비활성화되며, 예상 약가 가산은 간편 가정입니다.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9"/>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087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65176"/>
            <a:ext cx="6858000" cy="182880"/>
          </a:xfrm>
          <a:prstGeom prst="rect">
            <a:avLst/>
          </a:prstGeom>
          <a:noFill/>
        </p:spPr>
        <p:txBody>
          <a:bodyPr wrap="square" lIns="0" rIns="0" tIns="0" bIns="0">
            <a:spAutoFit/>
          </a:bodyPr>
          <a:lstStyle/>
          <a:p>
            <a:pPr algn="l">
              <a:lnSpc>
                <a:spcPct val="116000"/>
              </a:lnSpc>
              <a:spcBef>
                <a:spcPts val="0"/>
              </a:spcBef>
              <a:spcAft>
                <a:spcPts val="100"/>
              </a:spcAft>
            </a:pPr>
            <a:r>
              <a:rPr sz="1030" b="1" lang="ko-KR">
                <a:solidFill>
                  <a:srgbClr val="087F82"/>
                </a:solidFill>
                <a:latin typeface="맑은 고딕"/>
                <a:ea typeface="맑은 고딕"/>
              </a:rPr>
              <a:t>의약품 제조원가율 시뮬레이터 · 사용 안내</a:t>
            </a:r>
          </a:p>
        </p:txBody>
      </p:sp>
      <p:sp>
        <p:nvSpPr>
          <p:cNvPr id="4" name="TextBox 3"/>
          <p:cNvSpPr txBox="1"/>
          <p:nvPr/>
        </p:nvSpPr>
        <p:spPr>
          <a:xfrm>
            <a:off x="9235440" y="265176"/>
            <a:ext cx="2377440" cy="182880"/>
          </a:xfrm>
          <a:prstGeom prst="rect">
            <a:avLst/>
          </a:prstGeom>
          <a:noFill/>
        </p:spPr>
        <p:txBody>
          <a:bodyPr wrap="square" lIns="0" rIns="0" tIns="0" bIns="0">
            <a:spAutoFit/>
          </a:bodyPr>
          <a:lstStyle/>
          <a:p>
            <a:pPr algn="r">
              <a:lnSpc>
                <a:spcPct val="116000"/>
              </a:lnSpc>
              <a:spcBef>
                <a:spcPts val="0"/>
              </a:spcBef>
              <a:spcAft>
                <a:spcPts val="100"/>
              </a:spcAft>
            </a:pPr>
            <a:r>
              <a:rPr sz="1010" b="0" lang="ko-KR">
                <a:solidFill>
                  <a:srgbClr val="637F8D"/>
                </a:solidFill>
                <a:latin typeface="맑은 고딕"/>
                <a:ea typeface="맑은 고딕"/>
              </a:rPr>
              <a:t>실제 화면 · 가상 예제</a:t>
            </a:r>
          </a:p>
        </p:txBody>
      </p:sp>
      <p:sp>
        <p:nvSpPr>
          <p:cNvPr id="5" name="TextBox 4"/>
          <p:cNvSpPr txBox="1"/>
          <p:nvPr/>
        </p:nvSpPr>
        <p:spPr>
          <a:xfrm>
            <a:off x="566928" y="585216"/>
            <a:ext cx="11064240" cy="438912"/>
          </a:xfrm>
          <a:prstGeom prst="rect">
            <a:avLst/>
          </a:prstGeom>
          <a:noFill/>
        </p:spPr>
        <p:txBody>
          <a:bodyPr wrap="square" lIns="0" rIns="0" tIns="0" bIns="0">
            <a:spAutoFit/>
          </a:bodyPr>
          <a:lstStyle/>
          <a:p>
            <a:pPr algn="l">
              <a:lnSpc>
                <a:spcPct val="116000"/>
              </a:lnSpc>
              <a:spcBef>
                <a:spcPts val="0"/>
              </a:spcBef>
              <a:spcAft>
                <a:spcPts val="100"/>
              </a:spcAft>
            </a:pPr>
            <a:r>
              <a:rPr sz="2670" b="1" lang="ko-KR">
                <a:solidFill>
                  <a:srgbClr val="153C4D"/>
                </a:solidFill>
                <a:latin typeface="맑은 고딕"/>
                <a:ea typeface="맑은 고딕"/>
              </a:rPr>
              <a:t>원가율·시나리오·연간 및 누적 이익을 확인합니다</a:t>
            </a:r>
          </a:p>
        </p:txBody>
      </p:sp>
      <p:sp>
        <p:nvSpPr>
          <p:cNvPr id="6" name="TextBox 5"/>
          <p:cNvSpPr txBox="1"/>
          <p:nvPr/>
        </p:nvSpPr>
        <p:spPr>
          <a:xfrm>
            <a:off x="585216" y="1097280"/>
            <a:ext cx="10972800" cy="265176"/>
          </a:xfrm>
          <a:prstGeom prst="rect">
            <a:avLst/>
          </a:prstGeom>
          <a:noFill/>
        </p:spPr>
        <p:txBody>
          <a:bodyPr wrap="square" lIns="0" rIns="0" tIns="0" bIns="0">
            <a:spAutoFit/>
          </a:bodyPr>
          <a:lstStyle/>
          <a:p>
            <a:pPr algn="l">
              <a:lnSpc>
                <a:spcPct val="116000"/>
              </a:lnSpc>
              <a:spcBef>
                <a:spcPts val="0"/>
              </a:spcBef>
              <a:spcAft>
                <a:spcPts val="100"/>
              </a:spcAft>
            </a:pPr>
            <a:r>
              <a:rPr sz="1300" b="0" lang="ko-KR">
                <a:solidFill>
                  <a:srgbClr val="637F8D"/>
                </a:solidFill>
                <a:latin typeface="맑은 고딕"/>
                <a:ea typeface="맑은 고딕"/>
              </a:rPr>
              <a:t>결과에서 비용의 비중을 확인하고, 독립적인 시나리오를 최대 4개까지 만들어 차이를 비교합니다.</a:t>
            </a:r>
          </a:p>
        </p:txBody>
      </p:sp>
      <p:sp>
        <p:nvSpPr>
          <p:cNvPr id="7" name="TextBox 6"/>
          <p:cNvSpPr txBox="1"/>
          <p:nvPr/>
        </p:nvSpPr>
        <p:spPr>
          <a:xfrm>
            <a:off x="566928" y="6611112"/>
            <a:ext cx="4937760" cy="155448"/>
          </a:xfrm>
          <a:prstGeom prst="rect">
            <a:avLst/>
          </a:prstGeom>
          <a:noFill/>
        </p:spPr>
        <p:txBody>
          <a:bodyPr wrap="square" lIns="0" rIns="0" tIns="0" bIns="0">
            <a:spAutoFit/>
          </a:bodyPr>
          <a:lstStyle/>
          <a:p>
            <a:pPr algn="l">
              <a:lnSpc>
                <a:spcPct val="116000"/>
              </a:lnSpc>
              <a:spcBef>
                <a:spcPts val="0"/>
              </a:spcBef>
              <a:spcAft>
                <a:spcPts val="100"/>
              </a:spcAft>
            </a:pPr>
            <a:r>
              <a:rPr sz="880" b="0" lang="ko-KR">
                <a:solidFill>
                  <a:srgbClr val="087F82"/>
                </a:solidFill>
                <a:latin typeface="맑은 고딕"/>
                <a:ea typeface="맑은 고딕"/>
                <a:hlinkClick r:id="rId2"/>
              </a:rPr>
              <a:t>https://smoothsea45.github.io/project1/</a:t>
            </a:r>
          </a:p>
        </p:txBody>
      </p:sp>
      <p:sp>
        <p:nvSpPr>
          <p:cNvPr id="8" name="TextBox 7"/>
          <p:cNvSpPr txBox="1"/>
          <p:nvPr/>
        </p:nvSpPr>
        <p:spPr>
          <a:xfrm>
            <a:off x="9875520" y="6611112"/>
            <a:ext cx="1737360" cy="155448"/>
          </a:xfrm>
          <a:prstGeom prst="rect">
            <a:avLst/>
          </a:prstGeom>
          <a:noFill/>
        </p:spPr>
        <p:txBody>
          <a:bodyPr wrap="square" lIns="0" rIns="0" tIns="0" bIns="0">
            <a:spAutoFit/>
          </a:bodyPr>
          <a:lstStyle/>
          <a:p>
            <a:pPr algn="r">
              <a:lnSpc>
                <a:spcPct val="116000"/>
              </a:lnSpc>
              <a:spcBef>
                <a:spcPts val="0"/>
              </a:spcBef>
              <a:spcAft>
                <a:spcPts val="100"/>
              </a:spcAft>
            </a:pPr>
            <a:r>
              <a:rPr sz="880" b="0" lang="ko-KR">
                <a:solidFill>
                  <a:srgbClr val="637F8D"/>
                </a:solidFill>
                <a:latin typeface="맑은 고딕"/>
                <a:ea typeface="맑은 고딕"/>
              </a:rPr>
              <a:t>2장 요약본  |  02 / 02</a:t>
            </a:r>
          </a:p>
        </p:txBody>
      </p:sp>
      <p:sp>
        <p:nvSpPr>
          <p:cNvPr id="9" name="TextBox 8"/>
          <p:cNvSpPr txBox="1"/>
          <p:nvPr/>
        </p:nvSpPr>
        <p:spPr>
          <a:xfrm>
            <a:off x="585216" y="1472184"/>
            <a:ext cx="6492240" cy="219456"/>
          </a:xfrm>
          <a:prstGeom prst="rect">
            <a:avLst/>
          </a:prstGeom>
          <a:noFill/>
        </p:spPr>
        <p:txBody>
          <a:bodyPr wrap="square" lIns="0" rIns="0" tIns="0" bIns="0">
            <a:spAutoFit/>
          </a:bodyPr>
          <a:lstStyle/>
          <a:p>
            <a:pPr algn="l">
              <a:lnSpc>
                <a:spcPct val="116000"/>
              </a:lnSpc>
              <a:spcBef>
                <a:spcPts val="0"/>
              </a:spcBef>
              <a:spcAft>
                <a:spcPts val="100"/>
              </a:spcAft>
            </a:pPr>
            <a:r>
              <a:rPr sz="1200" b="1" lang="ko-KR">
                <a:solidFill>
                  <a:srgbClr val="087F82"/>
                </a:solidFill>
                <a:latin typeface="맑은 고딕"/>
                <a:ea typeface="맑은 고딕"/>
              </a:rPr>
              <a:t>결과  |  비용 구성과 약가 → 제조원가 → 원가율</a:t>
            </a:r>
          </a:p>
        </p:txBody>
      </p:sp>
      <p:pic>
        <p:nvPicPr>
          <p:cNvPr id="10" name="Picture 9" descr="results.png"/>
          <p:cNvPicPr>
            <a:picLocks noChangeAspect="1"/>
          </p:cNvPicPr>
          <p:nvPr/>
        </p:nvPicPr>
        <p:blipFill>
          <a:blip r:embed="rId3"/>
          <a:stretch>
            <a:fillRect/>
          </a:stretch>
        </p:blipFill>
        <p:spPr>
          <a:xfrm>
            <a:off x="566928" y="1783080"/>
            <a:ext cx="6492240" cy="2526072"/>
          </a:xfrm>
          <a:prstGeom prst="rect">
            <a:avLst/>
          </a:prstGeom>
        </p:spPr>
      </p:pic>
      <p:sp>
        <p:nvSpPr>
          <p:cNvPr id="11" name="TextBox 10"/>
          <p:cNvSpPr txBox="1"/>
          <p:nvPr/>
        </p:nvSpPr>
        <p:spPr>
          <a:xfrm>
            <a:off x="585216" y="4407408"/>
            <a:ext cx="6492240" cy="219456"/>
          </a:xfrm>
          <a:prstGeom prst="rect">
            <a:avLst/>
          </a:prstGeom>
          <a:noFill/>
        </p:spPr>
        <p:txBody>
          <a:bodyPr wrap="square" lIns="0" rIns="0" tIns="0" bIns="0">
            <a:spAutoFit/>
          </a:bodyPr>
          <a:lstStyle/>
          <a:p>
            <a:pPr algn="l">
              <a:lnSpc>
                <a:spcPct val="116000"/>
              </a:lnSpc>
              <a:spcBef>
                <a:spcPts val="0"/>
              </a:spcBef>
              <a:spcAft>
                <a:spcPts val="100"/>
              </a:spcAft>
            </a:pPr>
            <a:r>
              <a:rPr sz="1200" b="1" lang="ko-KR">
                <a:solidFill>
                  <a:srgbClr val="087F82"/>
                </a:solidFill>
                <a:latin typeface="맑은 고딕"/>
                <a:ea typeface="맑은 고딕"/>
              </a:rPr>
              <a:t>이익 분석  |  왼쪽: 연간 / 오른쪽: 연차별 누적 예상이익</a:t>
            </a:r>
          </a:p>
        </p:txBody>
      </p:sp>
      <p:sp>
        <p:nvSpPr>
          <p:cNvPr id="12" name="Rectangle 11"/>
          <p:cNvSpPr/>
          <p:nvPr/>
        </p:nvSpPr>
        <p:spPr>
          <a:xfrm>
            <a:off x="658368" y="4709160"/>
            <a:ext cx="73152" cy="73152"/>
          </a:xfrm>
          <a:prstGeom prst="rect">
            <a:avLst/>
          </a:prstGeom>
          <a:solidFill>
            <a:srgbClr val="087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663440"/>
            <a:ext cx="932688" cy="164592"/>
          </a:xfrm>
          <a:prstGeom prst="rect">
            <a:avLst/>
          </a:prstGeom>
          <a:noFill/>
        </p:spPr>
        <p:txBody>
          <a:bodyPr wrap="square" lIns="0" rIns="0" tIns="0" bIns="0">
            <a:spAutoFit/>
          </a:bodyPr>
          <a:lstStyle/>
          <a:p>
            <a:pPr algn="l">
              <a:lnSpc>
                <a:spcPct val="116000"/>
              </a:lnSpc>
              <a:spcBef>
                <a:spcPts val="0"/>
              </a:spcBef>
              <a:spcAft>
                <a:spcPts val="100"/>
              </a:spcAft>
            </a:pPr>
            <a:r>
              <a:rPr sz="919" b="0" lang="ko-KR">
                <a:solidFill>
                  <a:srgbClr val="637F8D"/>
                </a:solidFill>
                <a:latin typeface="맑은 고딕"/>
                <a:ea typeface="맑은 고딕"/>
              </a:rPr>
              <a:t>기본안</a:t>
            </a:r>
          </a:p>
        </p:txBody>
      </p:sp>
      <p:sp>
        <p:nvSpPr>
          <p:cNvPr id="14" name="Rectangle 13"/>
          <p:cNvSpPr/>
          <p:nvPr/>
        </p:nvSpPr>
        <p:spPr>
          <a:xfrm>
            <a:off x="1627632" y="4709160"/>
            <a:ext cx="73152" cy="73152"/>
          </a:xfrm>
          <a:prstGeom prst="rect">
            <a:avLst/>
          </a:prstGeom>
          <a:solidFill>
            <a:srgbClr val="8B5C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55648" y="4663440"/>
            <a:ext cx="2103120" cy="164592"/>
          </a:xfrm>
          <a:prstGeom prst="rect">
            <a:avLst/>
          </a:prstGeom>
          <a:noFill/>
        </p:spPr>
        <p:txBody>
          <a:bodyPr wrap="square" lIns="0" rIns="0" tIns="0" bIns="0">
            <a:spAutoFit/>
          </a:bodyPr>
          <a:lstStyle/>
          <a:p>
            <a:pPr algn="l">
              <a:lnSpc>
                <a:spcPct val="116000"/>
              </a:lnSpc>
              <a:spcBef>
                <a:spcPts val="0"/>
              </a:spcBef>
              <a:spcAft>
                <a:spcPts val="100"/>
              </a:spcAft>
            </a:pPr>
            <a:r>
              <a:rPr sz="919" b="0" lang="ko-KR">
                <a:solidFill>
                  <a:srgbClr val="637F8D"/>
                </a:solidFill>
                <a:latin typeface="맑은 고딕"/>
                <a:ea typeface="맑은 고딕"/>
              </a:rPr>
              <a:t>API 단가 절감안</a:t>
            </a:r>
          </a:p>
        </p:txBody>
      </p:sp>
      <p:pic>
        <p:nvPicPr>
          <p:cNvPr id="16" name="Picture 15" descr="profit.png"/>
          <p:cNvPicPr>
            <a:picLocks noChangeAspect="1"/>
          </p:cNvPicPr>
          <p:nvPr/>
        </p:nvPicPr>
        <p:blipFill>
          <a:blip r:embed="rId4"/>
          <a:srcRect t="18000"/>
          <a:stretch>
            <a:fillRect/>
          </a:stretch>
        </p:blipFill>
        <p:spPr>
          <a:xfrm>
            <a:off x="566928" y="4855464"/>
            <a:ext cx="6492240" cy="1587411"/>
          </a:xfrm>
          <a:prstGeom prst="rect">
            <a:avLst/>
          </a:prstGeom>
        </p:spPr>
      </p:pic>
      <p:sp>
        <p:nvSpPr>
          <p:cNvPr id="17" name="TextBox 16"/>
          <p:cNvSpPr txBox="1"/>
          <p:nvPr/>
        </p:nvSpPr>
        <p:spPr>
          <a:xfrm>
            <a:off x="7370064" y="1472184"/>
            <a:ext cx="4242816" cy="219456"/>
          </a:xfrm>
          <a:prstGeom prst="rect">
            <a:avLst/>
          </a:prstGeom>
          <a:noFill/>
        </p:spPr>
        <p:txBody>
          <a:bodyPr wrap="square" lIns="0" rIns="0" tIns="0" bIns="0">
            <a:spAutoFit/>
          </a:bodyPr>
          <a:lstStyle/>
          <a:p>
            <a:pPr algn="l">
              <a:lnSpc>
                <a:spcPct val="116000"/>
              </a:lnSpc>
              <a:spcBef>
                <a:spcPts val="0"/>
              </a:spcBef>
              <a:spcAft>
                <a:spcPts val="100"/>
              </a:spcAft>
            </a:pPr>
            <a:r>
              <a:rPr sz="1200" b="1" lang="ko-KR">
                <a:solidFill>
                  <a:srgbClr val="087F82"/>
                </a:solidFill>
                <a:latin typeface="맑은 고딕"/>
                <a:ea typeface="맑은 고딕"/>
              </a:rPr>
              <a:t>시나리오 비교  |  실제 비교표 상단</a:t>
            </a:r>
          </a:p>
        </p:txBody>
      </p:sp>
      <p:pic>
        <p:nvPicPr>
          <p:cNvPr id="18" name="Picture 17" descr="comparison.png"/>
          <p:cNvPicPr>
            <a:picLocks noChangeAspect="1"/>
          </p:cNvPicPr>
          <p:nvPr/>
        </p:nvPicPr>
        <p:blipFill>
          <a:blip r:embed="rId5"/>
          <a:stretch>
            <a:fillRect/>
          </a:stretch>
        </p:blipFill>
        <p:spPr>
          <a:xfrm>
            <a:off x="7370064" y="1783080"/>
            <a:ext cx="4251960" cy="2231525"/>
          </a:xfrm>
          <a:prstGeom prst="rect">
            <a:avLst/>
          </a:prstGeom>
        </p:spPr>
      </p:pic>
      <p:sp>
        <p:nvSpPr>
          <p:cNvPr id="19" name="TextBox 18"/>
          <p:cNvSpPr txBox="1"/>
          <p:nvPr/>
        </p:nvSpPr>
        <p:spPr>
          <a:xfrm>
            <a:off x="7388352" y="4096512"/>
            <a:ext cx="4206240" cy="210312"/>
          </a:xfrm>
          <a:prstGeom prst="rect">
            <a:avLst/>
          </a:prstGeom>
          <a:noFill/>
        </p:spPr>
        <p:txBody>
          <a:bodyPr wrap="square" lIns="0" rIns="0" tIns="0" bIns="0">
            <a:spAutoFit/>
          </a:bodyPr>
          <a:lstStyle/>
          <a:p>
            <a:pPr algn="l">
              <a:lnSpc>
                <a:spcPct val="116000"/>
              </a:lnSpc>
              <a:spcBef>
                <a:spcPts val="0"/>
              </a:spcBef>
              <a:spcAft>
                <a:spcPts val="100"/>
              </a:spcAft>
            </a:pPr>
            <a:r>
              <a:rPr sz="1110" b="1" lang="ko-KR">
                <a:solidFill>
                  <a:srgbClr val="087F82"/>
                </a:solidFill>
                <a:latin typeface="맑은 고딕"/>
                <a:ea typeface="맑은 고딕"/>
              </a:rPr>
              <a:t>API 단가 절감 예: 원가율 26.7% → 20.0%</a:t>
            </a:r>
          </a:p>
        </p:txBody>
      </p:sp>
      <p:sp>
        <p:nvSpPr>
          <p:cNvPr id="20" name="TextBox 19"/>
          <p:cNvSpPr txBox="1"/>
          <p:nvPr/>
        </p:nvSpPr>
        <p:spPr>
          <a:xfrm>
            <a:off x="7388352" y="4471416"/>
            <a:ext cx="4206240" cy="237744"/>
          </a:xfrm>
          <a:prstGeom prst="rect">
            <a:avLst/>
          </a:prstGeom>
          <a:noFill/>
        </p:spPr>
        <p:txBody>
          <a:bodyPr wrap="square" lIns="0" rIns="0" tIns="0" bIns="0">
            <a:spAutoFit/>
          </a:bodyPr>
          <a:lstStyle/>
          <a:p>
            <a:pPr algn="l">
              <a:lnSpc>
                <a:spcPct val="116000"/>
              </a:lnSpc>
              <a:spcBef>
                <a:spcPts val="0"/>
              </a:spcBef>
              <a:spcAft>
                <a:spcPts val="100"/>
              </a:spcAft>
            </a:pPr>
            <a:r>
              <a:rPr sz="1400" b="1" lang="ko-KR">
                <a:solidFill>
                  <a:srgbClr val="153C4D"/>
                </a:solidFill>
                <a:latin typeface="맑은 고딕"/>
                <a:ea typeface="맑은 고딕"/>
              </a:rPr>
              <a:t>복제·정렬·출력·보관</a:t>
            </a:r>
          </a:p>
        </p:txBody>
      </p:sp>
      <p:sp>
        <p:nvSpPr>
          <p:cNvPr id="21" name="TextBox 20"/>
          <p:cNvSpPr txBox="1"/>
          <p:nvPr/>
        </p:nvSpPr>
        <p:spPr>
          <a:xfrm>
            <a:off x="7388352" y="4837176"/>
            <a:ext cx="4215384" cy="1014984"/>
          </a:xfrm>
          <a:prstGeom prst="rect">
            <a:avLst/>
          </a:prstGeom>
          <a:noFill/>
        </p:spPr>
        <p:txBody>
          <a:bodyPr wrap="square" lIns="0" rIns="0" tIns="0" bIns="0">
            <a:spAutoFit/>
          </a:bodyPr>
          <a:lstStyle/>
          <a:p>
            <a:pPr algn="l">
              <a:lnSpc>
                <a:spcPct val="116000"/>
              </a:lnSpc>
              <a:spcBef>
                <a:spcPts val="0"/>
              </a:spcBef>
              <a:spcAft>
                <a:spcPts val="100"/>
              </a:spcAft>
            </a:pPr>
            <a:r>
              <a:rPr sz="1140" b="0" lang="ko-KR">
                <a:solidFill>
                  <a:srgbClr val="637F8D"/>
                </a:solidFill>
                <a:latin typeface="맑은 고딕"/>
                <a:ea typeface="맑은 고딕"/>
              </a:rPr>
              <a:t>현재 입력 복제 → 조건 수정 (원본 유지)</a:t>
            </a:r>
          </a:p>
          <a:p>
            <a:pPr algn="l">
              <a:lnSpc>
                <a:spcPct val="116000"/>
              </a:lnSpc>
              <a:spcBef>
                <a:spcPts val="0"/>
              </a:spcBef>
              <a:spcAft>
                <a:spcPts val="100"/>
              </a:spcAft>
            </a:pPr>
            <a:r>
              <a:rPr sz="1140" b="0" lang="ko-KR">
                <a:solidFill>
                  <a:srgbClr val="637F8D"/>
                </a:solidFill>
                <a:latin typeface="맑은 고딕"/>
                <a:ea typeface="맑은 고딕"/>
              </a:rPr>
              <a:t>시나리오 탭 드래그 정렬 · 비교표 출력</a:t>
            </a:r>
          </a:p>
          <a:p>
            <a:pPr algn="l">
              <a:lnSpc>
                <a:spcPct val="116000"/>
              </a:lnSpc>
              <a:spcBef>
                <a:spcPts val="0"/>
              </a:spcBef>
              <a:spcAft>
                <a:spcPts val="100"/>
              </a:spcAft>
            </a:pPr>
            <a:r>
              <a:rPr sz="1140" b="0" lang="ko-KR">
                <a:solidFill>
                  <a:srgbClr val="637F8D"/>
                </a:solidFill>
                <a:latin typeface="맑은 고딕"/>
                <a:ea typeface="맑은 고딕"/>
              </a:rPr>
              <a:t>연차(1~8년)를 누르면 도넛도 변경</a:t>
            </a:r>
          </a:p>
          <a:p>
            <a:pPr algn="l">
              <a:lnSpc>
                <a:spcPct val="116000"/>
              </a:lnSpc>
              <a:spcBef>
                <a:spcPts val="0"/>
              </a:spcBef>
              <a:spcAft>
                <a:spcPts val="100"/>
              </a:spcAft>
            </a:pPr>
            <a:r>
              <a:rPr sz="1140" b="0" lang="ko-KR">
                <a:solidFill>
                  <a:srgbClr val="637F8D"/>
                </a:solidFill>
                <a:latin typeface="맑은 고딕"/>
                <a:ea typeface="맑은 고딕"/>
              </a:rPr>
              <a:t>프로젝트 저장(JSON) → 파일 열기로 복원</a:t>
            </a:r>
          </a:p>
        </p:txBody>
      </p:sp>
      <p:sp>
        <p:nvSpPr>
          <p:cNvPr id="22" name="Rounded Rectangle 21"/>
          <p:cNvSpPr/>
          <p:nvPr/>
        </p:nvSpPr>
        <p:spPr>
          <a:xfrm>
            <a:off x="7333488" y="5907024"/>
            <a:ext cx="4288536" cy="576072"/>
          </a:xfrm>
          <a:prstGeom prst="roundRect">
            <a:avLst>
              <a:gd name="adj" fmla="val 12000"/>
            </a:avLst>
          </a:prstGeom>
          <a:solidFill>
            <a:srgbClr val="E7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79792" y="5952744"/>
            <a:ext cx="4005072" cy="182880"/>
          </a:xfrm>
          <a:prstGeom prst="rect">
            <a:avLst/>
          </a:prstGeom>
          <a:noFill/>
        </p:spPr>
        <p:txBody>
          <a:bodyPr wrap="square" lIns="0" rIns="0" tIns="0" bIns="0">
            <a:spAutoFit/>
          </a:bodyPr>
          <a:lstStyle/>
          <a:p>
            <a:pPr algn="l">
              <a:lnSpc>
                <a:spcPct val="116000"/>
              </a:lnSpc>
              <a:spcBef>
                <a:spcPts val="0"/>
              </a:spcBef>
              <a:spcAft>
                <a:spcPts val="100"/>
              </a:spcAft>
            </a:pPr>
            <a:r>
              <a:rPr sz="1120" b="1" lang="ko-KR">
                <a:solidFill>
                  <a:srgbClr val="087F82"/>
                </a:solidFill>
                <a:latin typeface="맑은 고딕"/>
                <a:ea typeface="맑은 고딕"/>
              </a:rPr>
              <a:t>원가율 = 제조원가 ÷ 약가 × 100</a:t>
            </a:r>
          </a:p>
        </p:txBody>
      </p:sp>
      <p:sp>
        <p:nvSpPr>
          <p:cNvPr id="24" name="TextBox 23"/>
          <p:cNvSpPr txBox="1"/>
          <p:nvPr/>
        </p:nvSpPr>
        <p:spPr>
          <a:xfrm>
            <a:off x="7479792" y="6190488"/>
            <a:ext cx="4005072" cy="201168"/>
          </a:xfrm>
          <a:prstGeom prst="rect">
            <a:avLst/>
          </a:prstGeom>
          <a:noFill/>
        </p:spPr>
        <p:txBody>
          <a:bodyPr wrap="square" lIns="0" rIns="0" tIns="0" bIns="0">
            <a:spAutoFit/>
          </a:bodyPr>
          <a:lstStyle/>
          <a:p>
            <a:pPr algn="l">
              <a:lnSpc>
                <a:spcPct val="116000"/>
              </a:lnSpc>
              <a:spcBef>
                <a:spcPts val="0"/>
              </a:spcBef>
              <a:spcAft>
                <a:spcPts val="100"/>
              </a:spcAft>
            </a:pPr>
            <a:r>
              <a:rPr sz="1000" b="1" lang="ko-KR">
                <a:solidFill>
                  <a:srgbClr val="153C4D"/>
                </a:solidFill>
                <a:latin typeface="맑은 고딕"/>
                <a:ea typeface="맑은 고딕"/>
              </a:rPr>
              <a:t>예상이익 = 수량 × (연차별 약가 − 제조원가/T)</a:t>
            </a:r>
          </a:p>
        </p:txBody>
      </p:sp>
      <p:sp>
        <p:nvSpPr>
          <p:cNvPr id="25" name="TextBox 24"/>
          <p:cNvSpPr txBox="1"/>
          <p:nvPr/>
        </p:nvSpPr>
        <p:spPr>
          <a:xfrm>
            <a:off x="585216" y="6464808"/>
            <a:ext cx="10972800" cy="137160"/>
          </a:xfrm>
          <a:prstGeom prst="rect">
            <a:avLst/>
          </a:prstGeom>
          <a:noFill/>
        </p:spPr>
        <p:txBody>
          <a:bodyPr wrap="square" lIns="0" rIns="0" tIns="0" bIns="0">
            <a:spAutoFit/>
          </a:bodyPr>
          <a:lstStyle/>
          <a:p>
            <a:pPr algn="l">
              <a:lnSpc>
                <a:spcPct val="116000"/>
              </a:lnSpc>
              <a:spcBef>
                <a:spcPts val="0"/>
              </a:spcBef>
              <a:spcAft>
                <a:spcPts val="100"/>
              </a:spcAft>
            </a:pPr>
            <a:r>
              <a:rPr sz="840" b="0" lang="ko-KR">
                <a:solidFill>
                  <a:srgbClr val="637F8D"/>
                </a:solidFill>
                <a:latin typeface="맑은 고딕"/>
                <a:ea typeface="맑은 고딕"/>
              </a:rPr>
              <a:t>예상이익은 현재 제조원가/T를 기간 내 일정하게 적용하며, 판관비·개발비·세금은 제외합니다. 금액 단위: 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의약품 제조원가율 시뮬레이터 | 실제 화면으로 보는 2장 사용 안내</dc:title>
  <dc:subject>5장 안내 자료의 내용을 실제 입력·결과 화면과 함께 2장으로 요약</dc:subject>
  <dc:creator/>
  <cp:keywords>의약품, 제조원가율, 시나리오, SF, 사용 안내</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